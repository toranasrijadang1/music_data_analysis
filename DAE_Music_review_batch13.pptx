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86" r:id="rId2"/>
    <p:sldId id="257" r:id="rId3"/>
    <p:sldId id="258" r:id="rId4"/>
    <p:sldId id="259" r:id="rId5"/>
    <p:sldId id="274" r:id="rId6"/>
    <p:sldId id="279" r:id="rId7"/>
    <p:sldId id="276" r:id="rId8"/>
    <p:sldId id="280" r:id="rId9"/>
    <p:sldId id="278" r:id="rId10"/>
    <p:sldId id="287" r:id="rId11"/>
    <p:sldId id="288" r:id="rId12"/>
    <p:sldId id="289" r:id="rId13"/>
    <p:sldId id="281" r:id="rId14"/>
    <p:sldId id="290" r:id="rId15"/>
    <p:sldId id="291" r:id="rId16"/>
    <p:sldId id="292" r:id="rId17"/>
    <p:sldId id="293" r:id="rId18"/>
    <p:sldId id="294" r:id="rId19"/>
    <p:sldId id="285" r:id="rId20"/>
    <p:sldId id="284" r:id="rId21"/>
    <p:sldId id="268" r:id="rId22"/>
    <p:sldId id="269" r:id="rId23"/>
  </p:sldIdLst>
  <p:sldSz cx="13817600" cy="7772400"/>
  <p:notesSz cx="10058400" cy="77724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96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597685-9CB6-45F9-A194-17869D503BB0}" v="6" dt="2026-09-22T09:10:40.52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95" autoAdjust="0"/>
    <p:restoredTop sz="94641" autoAdjust="0"/>
  </p:normalViewPr>
  <p:slideViewPr>
    <p:cSldViewPr>
      <p:cViewPr varScale="1">
        <p:scale>
          <a:sx n="69" d="100"/>
          <a:sy n="69" d="100"/>
        </p:scale>
        <p:origin x="720" y="67"/>
      </p:cViewPr>
      <p:guideLst>
        <p:guide orient="horz" pos="2880"/>
        <p:guide pos="2967"/>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pPr/>
              <a:t>29-09-2026</a:t>
            </a:fld>
            <a:endParaRPr lang="en-IN"/>
          </a:p>
        </p:txBody>
      </p:sp>
      <p:sp>
        <p:nvSpPr>
          <p:cNvPr id="4" name="Slide Image Placeholder 3"/>
          <p:cNvSpPr>
            <a:spLocks noGrp="1" noRot="1" noChangeAspect="1"/>
          </p:cNvSpPr>
          <p:nvPr>
            <p:ph type="sldImg" idx="2"/>
          </p:nvPr>
        </p:nvSpPr>
        <p:spPr>
          <a:xfrm>
            <a:off x="2698750" y="971550"/>
            <a:ext cx="4660900"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pPr/>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E9989-C905-F206-6AB0-A3A4322BC7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7FDF01-D701-5A4E-FA5D-C60295E04B04}"/>
              </a:ext>
            </a:extLst>
          </p:cNvPr>
          <p:cNvSpPr>
            <a:spLocks noGrp="1" noRot="1" noChangeAspect="1"/>
          </p:cNvSpPr>
          <p:nvPr>
            <p:ph type="sldImg"/>
          </p:nvPr>
        </p:nvSpPr>
        <p:spPr>
          <a:xfrm>
            <a:off x="2698750" y="971550"/>
            <a:ext cx="4660900" cy="2622550"/>
          </a:xfrm>
        </p:spPr>
      </p:sp>
      <p:sp>
        <p:nvSpPr>
          <p:cNvPr id="3" name="Notes Placeholder 2">
            <a:extLst>
              <a:ext uri="{FF2B5EF4-FFF2-40B4-BE49-F238E27FC236}">
                <a16:creationId xmlns:a16="http://schemas.microsoft.com/office/drawing/2014/main" id="{510534CF-04F9-9599-2C54-9A160816AFA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54EDF36-73B0-8858-A594-A08AAB925568}"/>
              </a:ext>
            </a:extLst>
          </p:cNvPr>
          <p:cNvSpPr>
            <a:spLocks noGrp="1"/>
          </p:cNvSpPr>
          <p:nvPr>
            <p:ph type="sldNum" sz="quarter" idx="10"/>
          </p:nvPr>
        </p:nvSpPr>
        <p:spPr/>
        <p:txBody>
          <a:bodyPr/>
          <a:lstStyle/>
          <a:p>
            <a:fld id="{67E471F2-2083-493A-8C9E-53209FFA1EC8}" type="slidenum">
              <a:rPr lang="en-IN" smtClean="0"/>
              <a:pPr/>
              <a:t>10</a:t>
            </a:fld>
            <a:endParaRPr lang="en-IN"/>
          </a:p>
        </p:txBody>
      </p:sp>
    </p:spTree>
    <p:extLst>
      <p:ext uri="{BB962C8B-B14F-4D97-AF65-F5344CB8AC3E}">
        <p14:creationId xmlns:p14="http://schemas.microsoft.com/office/powerpoint/2010/main" val="38658616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8E80F-C2F5-9E78-B66B-6CD5F87903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67B29F-1AA0-1159-CC97-82B74C2EB086}"/>
              </a:ext>
            </a:extLst>
          </p:cNvPr>
          <p:cNvSpPr>
            <a:spLocks noGrp="1" noRot="1" noChangeAspect="1"/>
          </p:cNvSpPr>
          <p:nvPr>
            <p:ph type="sldImg"/>
          </p:nvPr>
        </p:nvSpPr>
        <p:spPr>
          <a:xfrm>
            <a:off x="2698750" y="971550"/>
            <a:ext cx="4660900" cy="2622550"/>
          </a:xfrm>
        </p:spPr>
      </p:sp>
      <p:sp>
        <p:nvSpPr>
          <p:cNvPr id="3" name="Notes Placeholder 2">
            <a:extLst>
              <a:ext uri="{FF2B5EF4-FFF2-40B4-BE49-F238E27FC236}">
                <a16:creationId xmlns:a16="http://schemas.microsoft.com/office/drawing/2014/main" id="{12C142E1-D78B-3BB2-465E-D856A1CFC9B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4BEC98E-194F-86C2-D7BB-824386F27B49}"/>
              </a:ext>
            </a:extLst>
          </p:cNvPr>
          <p:cNvSpPr>
            <a:spLocks noGrp="1"/>
          </p:cNvSpPr>
          <p:nvPr>
            <p:ph type="sldNum" sz="quarter" idx="10"/>
          </p:nvPr>
        </p:nvSpPr>
        <p:spPr/>
        <p:txBody>
          <a:bodyPr/>
          <a:lstStyle/>
          <a:p>
            <a:fld id="{67E471F2-2083-493A-8C9E-53209FFA1EC8}" type="slidenum">
              <a:rPr lang="en-IN" smtClean="0"/>
              <a:pPr/>
              <a:t>11</a:t>
            </a:fld>
            <a:endParaRPr lang="en-IN"/>
          </a:p>
        </p:txBody>
      </p:sp>
    </p:spTree>
    <p:extLst>
      <p:ext uri="{BB962C8B-B14F-4D97-AF65-F5344CB8AC3E}">
        <p14:creationId xmlns:p14="http://schemas.microsoft.com/office/powerpoint/2010/main" val="15583117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44185-9B88-08E4-18FB-05773A7DB6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A7BB38-2896-2789-F0F7-5ADD9A09A1D2}"/>
              </a:ext>
            </a:extLst>
          </p:cNvPr>
          <p:cNvSpPr>
            <a:spLocks noGrp="1" noRot="1" noChangeAspect="1"/>
          </p:cNvSpPr>
          <p:nvPr>
            <p:ph type="sldImg"/>
          </p:nvPr>
        </p:nvSpPr>
        <p:spPr>
          <a:xfrm>
            <a:off x="2698750" y="971550"/>
            <a:ext cx="4660900" cy="2622550"/>
          </a:xfrm>
        </p:spPr>
      </p:sp>
      <p:sp>
        <p:nvSpPr>
          <p:cNvPr id="3" name="Notes Placeholder 2">
            <a:extLst>
              <a:ext uri="{FF2B5EF4-FFF2-40B4-BE49-F238E27FC236}">
                <a16:creationId xmlns:a16="http://schemas.microsoft.com/office/drawing/2014/main" id="{75EA9A2F-217A-C594-D96F-88215328D1E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0FC364F-48DB-3CA6-769B-5C0D41D0A502}"/>
              </a:ext>
            </a:extLst>
          </p:cNvPr>
          <p:cNvSpPr>
            <a:spLocks noGrp="1"/>
          </p:cNvSpPr>
          <p:nvPr>
            <p:ph type="sldNum" sz="quarter" idx="10"/>
          </p:nvPr>
        </p:nvSpPr>
        <p:spPr/>
        <p:txBody>
          <a:bodyPr/>
          <a:lstStyle/>
          <a:p>
            <a:fld id="{67E471F2-2083-493A-8C9E-53209FFA1EC8}" type="slidenum">
              <a:rPr lang="en-IN" smtClean="0"/>
              <a:pPr/>
              <a:t>12</a:t>
            </a:fld>
            <a:endParaRPr lang="en-IN"/>
          </a:p>
        </p:txBody>
      </p:sp>
    </p:spTree>
    <p:extLst>
      <p:ext uri="{BB962C8B-B14F-4D97-AF65-F5344CB8AC3E}">
        <p14:creationId xmlns:p14="http://schemas.microsoft.com/office/powerpoint/2010/main" val="6844259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1E0C1-6277-CAD3-8A7C-7F0F37C61C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3776A0-3BEE-1FDC-EADA-6B6FA1E1A03A}"/>
              </a:ext>
            </a:extLst>
          </p:cNvPr>
          <p:cNvSpPr>
            <a:spLocks noGrp="1" noRot="1" noChangeAspect="1"/>
          </p:cNvSpPr>
          <p:nvPr>
            <p:ph type="sldImg"/>
          </p:nvPr>
        </p:nvSpPr>
        <p:spPr>
          <a:xfrm>
            <a:off x="2698750" y="971550"/>
            <a:ext cx="4660900" cy="2622550"/>
          </a:xfrm>
        </p:spPr>
      </p:sp>
      <p:sp>
        <p:nvSpPr>
          <p:cNvPr id="3" name="Notes Placeholder 2">
            <a:extLst>
              <a:ext uri="{FF2B5EF4-FFF2-40B4-BE49-F238E27FC236}">
                <a16:creationId xmlns:a16="http://schemas.microsoft.com/office/drawing/2014/main" id="{EE753676-942B-2284-A56F-CCE051D8DD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A68B2BB-B290-5A6F-7542-202146F1BA1C}"/>
              </a:ext>
            </a:extLst>
          </p:cNvPr>
          <p:cNvSpPr>
            <a:spLocks noGrp="1"/>
          </p:cNvSpPr>
          <p:nvPr>
            <p:ph type="sldNum" sz="quarter" idx="10"/>
          </p:nvPr>
        </p:nvSpPr>
        <p:spPr/>
        <p:txBody>
          <a:bodyPr/>
          <a:lstStyle/>
          <a:p>
            <a:fld id="{67E471F2-2083-493A-8C9E-53209FFA1EC8}" type="slidenum">
              <a:rPr lang="en-IN" smtClean="0"/>
              <a:pPr/>
              <a:t>13</a:t>
            </a:fld>
            <a:endParaRPr lang="en-IN"/>
          </a:p>
        </p:txBody>
      </p:sp>
    </p:spTree>
    <p:extLst>
      <p:ext uri="{BB962C8B-B14F-4D97-AF65-F5344CB8AC3E}">
        <p14:creationId xmlns:p14="http://schemas.microsoft.com/office/powerpoint/2010/main" val="15275766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57D1A-C0F0-630A-1B70-4E1B1F5B5C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463B6E-43EE-664D-2A7E-ECDE71F049AD}"/>
              </a:ext>
            </a:extLst>
          </p:cNvPr>
          <p:cNvSpPr>
            <a:spLocks noGrp="1" noRot="1" noChangeAspect="1"/>
          </p:cNvSpPr>
          <p:nvPr>
            <p:ph type="sldImg"/>
          </p:nvPr>
        </p:nvSpPr>
        <p:spPr>
          <a:xfrm>
            <a:off x="2698750" y="971550"/>
            <a:ext cx="4660900" cy="2622550"/>
          </a:xfrm>
        </p:spPr>
      </p:sp>
      <p:sp>
        <p:nvSpPr>
          <p:cNvPr id="3" name="Notes Placeholder 2">
            <a:extLst>
              <a:ext uri="{FF2B5EF4-FFF2-40B4-BE49-F238E27FC236}">
                <a16:creationId xmlns:a16="http://schemas.microsoft.com/office/drawing/2014/main" id="{CF360C87-8578-5F6C-FACF-16F287222E4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3C085A7-7D6F-A816-339B-4DFF01856075}"/>
              </a:ext>
            </a:extLst>
          </p:cNvPr>
          <p:cNvSpPr>
            <a:spLocks noGrp="1"/>
          </p:cNvSpPr>
          <p:nvPr>
            <p:ph type="sldNum" sz="quarter" idx="10"/>
          </p:nvPr>
        </p:nvSpPr>
        <p:spPr/>
        <p:txBody>
          <a:bodyPr/>
          <a:lstStyle/>
          <a:p>
            <a:fld id="{67E471F2-2083-493A-8C9E-53209FFA1EC8}" type="slidenum">
              <a:rPr lang="en-IN" smtClean="0"/>
              <a:pPr/>
              <a:t>14</a:t>
            </a:fld>
            <a:endParaRPr lang="en-IN"/>
          </a:p>
        </p:txBody>
      </p:sp>
    </p:spTree>
    <p:extLst>
      <p:ext uri="{BB962C8B-B14F-4D97-AF65-F5344CB8AC3E}">
        <p14:creationId xmlns:p14="http://schemas.microsoft.com/office/powerpoint/2010/main" val="16167489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11DAC-4422-D7BE-68AA-5ECDBC5552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F39890-7164-873F-7F29-C2C83B543E73}"/>
              </a:ext>
            </a:extLst>
          </p:cNvPr>
          <p:cNvSpPr>
            <a:spLocks noGrp="1" noRot="1" noChangeAspect="1"/>
          </p:cNvSpPr>
          <p:nvPr>
            <p:ph type="sldImg"/>
          </p:nvPr>
        </p:nvSpPr>
        <p:spPr>
          <a:xfrm>
            <a:off x="2698750" y="971550"/>
            <a:ext cx="4660900" cy="2622550"/>
          </a:xfrm>
        </p:spPr>
      </p:sp>
      <p:sp>
        <p:nvSpPr>
          <p:cNvPr id="3" name="Notes Placeholder 2">
            <a:extLst>
              <a:ext uri="{FF2B5EF4-FFF2-40B4-BE49-F238E27FC236}">
                <a16:creationId xmlns:a16="http://schemas.microsoft.com/office/drawing/2014/main" id="{F3BCA23F-79E0-A732-430F-F7AEA00E680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C89FBD3-3CCF-5253-0B7D-BEBDA3608E72}"/>
              </a:ext>
            </a:extLst>
          </p:cNvPr>
          <p:cNvSpPr>
            <a:spLocks noGrp="1"/>
          </p:cNvSpPr>
          <p:nvPr>
            <p:ph type="sldNum" sz="quarter" idx="10"/>
          </p:nvPr>
        </p:nvSpPr>
        <p:spPr/>
        <p:txBody>
          <a:bodyPr/>
          <a:lstStyle/>
          <a:p>
            <a:fld id="{67E471F2-2083-493A-8C9E-53209FFA1EC8}" type="slidenum">
              <a:rPr lang="en-IN" smtClean="0"/>
              <a:pPr/>
              <a:t>15</a:t>
            </a:fld>
            <a:endParaRPr lang="en-IN"/>
          </a:p>
        </p:txBody>
      </p:sp>
    </p:spTree>
    <p:extLst>
      <p:ext uri="{BB962C8B-B14F-4D97-AF65-F5344CB8AC3E}">
        <p14:creationId xmlns:p14="http://schemas.microsoft.com/office/powerpoint/2010/main" val="40411883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4C124-12D8-FB57-3103-CA8346503A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9DF65F-7F3C-2C6F-B522-63DAB78143C7}"/>
              </a:ext>
            </a:extLst>
          </p:cNvPr>
          <p:cNvSpPr>
            <a:spLocks noGrp="1" noRot="1" noChangeAspect="1"/>
          </p:cNvSpPr>
          <p:nvPr>
            <p:ph type="sldImg"/>
          </p:nvPr>
        </p:nvSpPr>
        <p:spPr>
          <a:xfrm>
            <a:off x="2698750" y="971550"/>
            <a:ext cx="4660900" cy="2622550"/>
          </a:xfrm>
        </p:spPr>
      </p:sp>
      <p:sp>
        <p:nvSpPr>
          <p:cNvPr id="3" name="Notes Placeholder 2">
            <a:extLst>
              <a:ext uri="{FF2B5EF4-FFF2-40B4-BE49-F238E27FC236}">
                <a16:creationId xmlns:a16="http://schemas.microsoft.com/office/drawing/2014/main" id="{B33BC557-7BCD-41D3-D27B-83FDDDD8158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D62AFA1-5020-40DC-30A4-201E467B2481}"/>
              </a:ext>
            </a:extLst>
          </p:cNvPr>
          <p:cNvSpPr>
            <a:spLocks noGrp="1"/>
          </p:cNvSpPr>
          <p:nvPr>
            <p:ph type="sldNum" sz="quarter" idx="10"/>
          </p:nvPr>
        </p:nvSpPr>
        <p:spPr/>
        <p:txBody>
          <a:bodyPr/>
          <a:lstStyle/>
          <a:p>
            <a:fld id="{67E471F2-2083-493A-8C9E-53209FFA1EC8}" type="slidenum">
              <a:rPr lang="en-IN" smtClean="0"/>
              <a:pPr/>
              <a:t>16</a:t>
            </a:fld>
            <a:endParaRPr lang="en-IN"/>
          </a:p>
        </p:txBody>
      </p:sp>
    </p:spTree>
    <p:extLst>
      <p:ext uri="{BB962C8B-B14F-4D97-AF65-F5344CB8AC3E}">
        <p14:creationId xmlns:p14="http://schemas.microsoft.com/office/powerpoint/2010/main" val="36613366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A17D7-3EA8-BF2F-BF47-0754AEB1CB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594105-3551-1E60-F804-A360201AB8DF}"/>
              </a:ext>
            </a:extLst>
          </p:cNvPr>
          <p:cNvSpPr>
            <a:spLocks noGrp="1" noRot="1" noChangeAspect="1"/>
          </p:cNvSpPr>
          <p:nvPr>
            <p:ph type="sldImg"/>
          </p:nvPr>
        </p:nvSpPr>
        <p:spPr>
          <a:xfrm>
            <a:off x="2698750" y="971550"/>
            <a:ext cx="4660900" cy="2622550"/>
          </a:xfrm>
        </p:spPr>
      </p:sp>
      <p:sp>
        <p:nvSpPr>
          <p:cNvPr id="3" name="Notes Placeholder 2">
            <a:extLst>
              <a:ext uri="{FF2B5EF4-FFF2-40B4-BE49-F238E27FC236}">
                <a16:creationId xmlns:a16="http://schemas.microsoft.com/office/drawing/2014/main" id="{C07D3926-A9BF-67C7-8CE6-9E5801A114E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EC69CD1-0EB4-F684-2596-6584B7417BBA}"/>
              </a:ext>
            </a:extLst>
          </p:cNvPr>
          <p:cNvSpPr>
            <a:spLocks noGrp="1"/>
          </p:cNvSpPr>
          <p:nvPr>
            <p:ph type="sldNum" sz="quarter" idx="10"/>
          </p:nvPr>
        </p:nvSpPr>
        <p:spPr/>
        <p:txBody>
          <a:bodyPr/>
          <a:lstStyle/>
          <a:p>
            <a:fld id="{67E471F2-2083-493A-8C9E-53209FFA1EC8}" type="slidenum">
              <a:rPr lang="en-IN" smtClean="0"/>
              <a:pPr/>
              <a:t>17</a:t>
            </a:fld>
            <a:endParaRPr lang="en-IN"/>
          </a:p>
        </p:txBody>
      </p:sp>
    </p:spTree>
    <p:extLst>
      <p:ext uri="{BB962C8B-B14F-4D97-AF65-F5344CB8AC3E}">
        <p14:creationId xmlns:p14="http://schemas.microsoft.com/office/powerpoint/2010/main" val="29035550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54051-9A09-2186-A858-395720CAE9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57DA99-24A4-BA85-DFBB-56040DDAEE62}"/>
              </a:ext>
            </a:extLst>
          </p:cNvPr>
          <p:cNvSpPr>
            <a:spLocks noGrp="1" noRot="1" noChangeAspect="1"/>
          </p:cNvSpPr>
          <p:nvPr>
            <p:ph type="sldImg"/>
          </p:nvPr>
        </p:nvSpPr>
        <p:spPr>
          <a:xfrm>
            <a:off x="2698750" y="971550"/>
            <a:ext cx="4660900" cy="2622550"/>
          </a:xfrm>
        </p:spPr>
      </p:sp>
      <p:sp>
        <p:nvSpPr>
          <p:cNvPr id="3" name="Notes Placeholder 2">
            <a:extLst>
              <a:ext uri="{FF2B5EF4-FFF2-40B4-BE49-F238E27FC236}">
                <a16:creationId xmlns:a16="http://schemas.microsoft.com/office/drawing/2014/main" id="{09C5AD6B-AD4A-DE00-C001-D153E9A0CC6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501F8E7-876E-2943-1D5E-E5EA8163F809}"/>
              </a:ext>
            </a:extLst>
          </p:cNvPr>
          <p:cNvSpPr>
            <a:spLocks noGrp="1"/>
          </p:cNvSpPr>
          <p:nvPr>
            <p:ph type="sldNum" sz="quarter" idx="10"/>
          </p:nvPr>
        </p:nvSpPr>
        <p:spPr/>
        <p:txBody>
          <a:bodyPr/>
          <a:lstStyle/>
          <a:p>
            <a:fld id="{67E471F2-2083-493A-8C9E-53209FFA1EC8}" type="slidenum">
              <a:rPr lang="en-IN" smtClean="0"/>
              <a:pPr/>
              <a:t>18</a:t>
            </a:fld>
            <a:endParaRPr lang="en-IN"/>
          </a:p>
        </p:txBody>
      </p:sp>
    </p:spTree>
    <p:extLst>
      <p:ext uri="{BB962C8B-B14F-4D97-AF65-F5344CB8AC3E}">
        <p14:creationId xmlns:p14="http://schemas.microsoft.com/office/powerpoint/2010/main" val="16678856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036320" y="2409449"/>
            <a:ext cx="11744960" cy="364715"/>
          </a:xfrm>
          <a:prstGeom prst="rect">
            <a:avLst/>
          </a:prstGeom>
        </p:spPr>
        <p:txBody>
          <a:bodyPr wrap="square" lIns="0" tIns="0" rIns="0" bIns="0">
            <a:spAutoFit/>
          </a:bodyPr>
          <a:lstStyle>
            <a:lvl1pPr>
              <a:defRPr sz="237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2072640" y="4352548"/>
            <a:ext cx="9672320" cy="309187"/>
          </a:xfrm>
          <a:prstGeom prst="rect">
            <a:avLst/>
          </a:prstGeom>
        </p:spPr>
        <p:txBody>
          <a:bodyPr wrap="square" lIns="0" tIns="0" rIns="0" bIns="0">
            <a:spAutoFit/>
          </a:bodyPr>
          <a:lstStyle>
            <a:lvl1pPr>
              <a:defRPr sz="2009"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262749" y="881559"/>
            <a:ext cx="3473591" cy="364715"/>
          </a:xfrm>
        </p:spPr>
        <p:txBody>
          <a:bodyPr lIns="0" tIns="0" rIns="0" bIns="0"/>
          <a:lstStyle>
            <a:lvl1pPr>
              <a:defRPr sz="237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853353" y="1409154"/>
            <a:ext cx="12293651" cy="309187"/>
          </a:xfrm>
        </p:spPr>
        <p:txBody>
          <a:bodyPr lIns="0" tIns="0" rIns="0" bIns="0"/>
          <a:lstStyle>
            <a:lvl1pPr>
              <a:defRPr sz="2009"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5262749" y="881559"/>
            <a:ext cx="3473591" cy="364715"/>
          </a:xfrm>
        </p:spPr>
        <p:txBody>
          <a:bodyPr lIns="0" tIns="0" rIns="0" bIns="0"/>
          <a:lstStyle>
            <a:lvl1pPr>
              <a:defRPr sz="237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690880" y="1787652"/>
            <a:ext cx="6010656" cy="30008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7116064" y="1787652"/>
            <a:ext cx="6010656" cy="30008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9/29/2026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5262749" y="881559"/>
            <a:ext cx="3473591" cy="364715"/>
          </a:xfrm>
        </p:spPr>
        <p:txBody>
          <a:bodyPr lIns="0" tIns="0" rIns="0" bIns="0"/>
          <a:lstStyle>
            <a:lvl1pPr>
              <a:defRPr sz="237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9/29/2026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637735" y="258728"/>
            <a:ext cx="6321068" cy="704793"/>
          </a:xfrm>
          <a:prstGeom prst="rect">
            <a:avLst/>
          </a:prstGeom>
        </p:spPr>
      </p:pic>
      <p:pic>
        <p:nvPicPr>
          <p:cNvPr id="17" name="bg object 17"/>
          <p:cNvPicPr/>
          <p:nvPr/>
        </p:nvPicPr>
        <p:blipFill>
          <a:blip r:embed="rId3" cstate="print"/>
          <a:stretch>
            <a:fillRect/>
          </a:stretch>
        </p:blipFill>
        <p:spPr>
          <a:xfrm>
            <a:off x="3475992" y="125730"/>
            <a:ext cx="6865619" cy="1045130"/>
          </a:xfrm>
          <a:prstGeom prst="rect">
            <a:avLst/>
          </a:prstGeom>
        </p:spPr>
      </p:pic>
      <p:pic>
        <p:nvPicPr>
          <p:cNvPr id="18" name="bg object 18"/>
          <p:cNvPicPr/>
          <p:nvPr/>
        </p:nvPicPr>
        <p:blipFill>
          <a:blip r:embed="rId4" cstate="print"/>
          <a:stretch>
            <a:fillRect/>
          </a:stretch>
        </p:blipFill>
        <p:spPr>
          <a:xfrm>
            <a:off x="3659509" y="251413"/>
            <a:ext cx="6288159" cy="506849"/>
          </a:xfrm>
          <a:prstGeom prst="rect">
            <a:avLst/>
          </a:prstGeom>
        </p:spPr>
      </p:pic>
      <p:sp>
        <p:nvSpPr>
          <p:cNvPr id="19" name="bg object 19"/>
          <p:cNvSpPr/>
          <p:nvPr/>
        </p:nvSpPr>
        <p:spPr>
          <a:xfrm>
            <a:off x="3735071" y="290753"/>
            <a:ext cx="614290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4523109" y="282840"/>
            <a:ext cx="4636524"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9/29/2026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older 2"/>
          <p:cNvSpPr>
            <a:spLocks noGrp="1"/>
          </p:cNvSpPr>
          <p:nvPr>
            <p:ph type="title"/>
          </p:nvPr>
        </p:nvSpPr>
        <p:spPr>
          <a:xfrm>
            <a:off x="5262749" y="881559"/>
            <a:ext cx="3473591" cy="353943"/>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853353" y="1409150"/>
            <a:ext cx="12293651" cy="300082"/>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4697984" y="7228337"/>
            <a:ext cx="4421632"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90880" y="7228337"/>
            <a:ext cx="3178048"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9/29/2026</a:t>
            </a:fld>
            <a:endParaRPr lang="en-US"/>
          </a:p>
        </p:txBody>
      </p:sp>
      <p:sp>
        <p:nvSpPr>
          <p:cNvPr id="6" name="Holder 6"/>
          <p:cNvSpPr>
            <a:spLocks noGrp="1"/>
          </p:cNvSpPr>
          <p:nvPr>
            <p:ph type="sldNum" sz="quarter" idx="7"/>
          </p:nvPr>
        </p:nvSpPr>
        <p:spPr>
          <a:xfrm>
            <a:off x="9948672" y="7228337"/>
            <a:ext cx="3178048"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71045">
        <a:defRPr>
          <a:latin typeface="+mn-lt"/>
          <a:ea typeface="+mn-ea"/>
          <a:cs typeface="+mn-cs"/>
        </a:defRPr>
      </a:lvl2pPr>
      <a:lvl3pPr marL="942092">
        <a:defRPr>
          <a:latin typeface="+mn-lt"/>
          <a:ea typeface="+mn-ea"/>
          <a:cs typeface="+mn-cs"/>
        </a:defRPr>
      </a:lvl3pPr>
      <a:lvl4pPr marL="1413137">
        <a:defRPr>
          <a:latin typeface="+mn-lt"/>
          <a:ea typeface="+mn-ea"/>
          <a:cs typeface="+mn-cs"/>
        </a:defRPr>
      </a:lvl4pPr>
      <a:lvl5pPr marL="1884184">
        <a:defRPr>
          <a:latin typeface="+mn-lt"/>
          <a:ea typeface="+mn-ea"/>
          <a:cs typeface="+mn-cs"/>
        </a:defRPr>
      </a:lvl5pPr>
      <a:lvl6pPr marL="2355229">
        <a:defRPr>
          <a:latin typeface="+mn-lt"/>
          <a:ea typeface="+mn-ea"/>
          <a:cs typeface="+mn-cs"/>
        </a:defRPr>
      </a:lvl6pPr>
      <a:lvl7pPr marL="2826274">
        <a:defRPr>
          <a:latin typeface="+mn-lt"/>
          <a:ea typeface="+mn-ea"/>
          <a:cs typeface="+mn-cs"/>
        </a:defRPr>
      </a:lvl7pPr>
      <a:lvl8pPr marL="3297321">
        <a:defRPr>
          <a:latin typeface="+mn-lt"/>
          <a:ea typeface="+mn-ea"/>
          <a:cs typeface="+mn-cs"/>
        </a:defRPr>
      </a:lvl8pPr>
      <a:lvl9pPr marL="3768366">
        <a:defRPr>
          <a:latin typeface="+mn-lt"/>
          <a:ea typeface="+mn-ea"/>
          <a:cs typeface="+mn-cs"/>
        </a:defRPr>
      </a:lvl9pPr>
    </p:bodyStyle>
    <p:otherStyle>
      <a:lvl1pPr marL="0">
        <a:defRPr>
          <a:latin typeface="+mn-lt"/>
          <a:ea typeface="+mn-ea"/>
          <a:cs typeface="+mn-cs"/>
        </a:defRPr>
      </a:lvl1pPr>
      <a:lvl2pPr marL="471045">
        <a:defRPr>
          <a:latin typeface="+mn-lt"/>
          <a:ea typeface="+mn-ea"/>
          <a:cs typeface="+mn-cs"/>
        </a:defRPr>
      </a:lvl2pPr>
      <a:lvl3pPr marL="942092">
        <a:defRPr>
          <a:latin typeface="+mn-lt"/>
          <a:ea typeface="+mn-ea"/>
          <a:cs typeface="+mn-cs"/>
        </a:defRPr>
      </a:lvl3pPr>
      <a:lvl4pPr marL="1413137">
        <a:defRPr>
          <a:latin typeface="+mn-lt"/>
          <a:ea typeface="+mn-ea"/>
          <a:cs typeface="+mn-cs"/>
        </a:defRPr>
      </a:lvl4pPr>
      <a:lvl5pPr marL="1884184">
        <a:defRPr>
          <a:latin typeface="+mn-lt"/>
          <a:ea typeface="+mn-ea"/>
          <a:cs typeface="+mn-cs"/>
        </a:defRPr>
      </a:lvl5pPr>
      <a:lvl6pPr marL="2355229">
        <a:defRPr>
          <a:latin typeface="+mn-lt"/>
          <a:ea typeface="+mn-ea"/>
          <a:cs typeface="+mn-cs"/>
        </a:defRPr>
      </a:lvl6pPr>
      <a:lvl7pPr marL="2826274">
        <a:defRPr>
          <a:latin typeface="+mn-lt"/>
          <a:ea typeface="+mn-ea"/>
          <a:cs typeface="+mn-cs"/>
        </a:defRPr>
      </a:lvl7pPr>
      <a:lvl8pPr marL="3297321">
        <a:defRPr>
          <a:latin typeface="+mn-lt"/>
          <a:ea typeface="+mn-ea"/>
          <a:cs typeface="+mn-cs"/>
        </a:defRPr>
      </a:lvl8pPr>
      <a:lvl9pPr marL="3768366">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6.jpe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6.jpe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8.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7.png"/><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7.pn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10" Type="http://schemas.openxmlformats.org/officeDocument/2006/relationships/image" Target="../media/image20.png"/><Relationship Id="rId4" Type="http://schemas.openxmlformats.org/officeDocument/2006/relationships/image" Target="../media/image2.png"/><Relationship Id="rId9" Type="http://schemas.openxmlformats.org/officeDocument/2006/relationships/image" Target="../media/image19.png"/></Relationships>
</file>

<file path=ppt/slides/_rels/slide1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7.pn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7.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7.png"/><Relationship Id="rId7"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7.png"/><Relationship Id="rId7"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png"/><Relationship Id="rId7" Type="http://schemas.openxmlformats.org/officeDocument/2006/relationships/image" Target="../media/image33.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8.png"/><Relationship Id="rId9"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394200" y="252416"/>
            <a:ext cx="4750635" cy="647699"/>
          </a:xfrm>
          <a:prstGeom prst="rect">
            <a:avLst/>
          </a:prstGeom>
        </p:spPr>
      </p:pic>
      <p:sp>
        <p:nvSpPr>
          <p:cNvPr id="3" name="TextBox 2"/>
          <p:cNvSpPr txBox="1"/>
          <p:nvPr/>
        </p:nvSpPr>
        <p:spPr>
          <a:xfrm>
            <a:off x="3234575" y="965664"/>
            <a:ext cx="7536873" cy="552553"/>
          </a:xfrm>
          <a:prstGeom prst="rect">
            <a:avLst/>
          </a:prstGeom>
          <a:noFill/>
        </p:spPr>
        <p:txBody>
          <a:bodyPr wrap="square">
            <a:spAutoFit/>
          </a:bodyPr>
          <a:lstStyle/>
          <a:p>
            <a:pPr algn="ctr">
              <a:spcAft>
                <a:spcPts val="721"/>
              </a:spcAft>
              <a:defRPr sz="2500" b="1">
                <a:solidFill>
                  <a:srgbClr val="233464"/>
                </a:solidFill>
                <a:latin typeface="Aptos"/>
              </a:defRPr>
            </a:pPr>
            <a:r>
              <a:rPr sz="2885" dirty="0">
                <a:latin typeface="Times New Roman" pitchFamily="18" charset="0"/>
                <a:cs typeface="Times New Roman" pitchFamily="18" charset="0"/>
              </a:rPr>
              <a:t>Data Analysis Essentials</a:t>
            </a:r>
          </a:p>
        </p:txBody>
      </p:sp>
      <p:sp>
        <p:nvSpPr>
          <p:cNvPr id="4" name="TextBox 3"/>
          <p:cNvSpPr txBox="1"/>
          <p:nvPr/>
        </p:nvSpPr>
        <p:spPr>
          <a:xfrm>
            <a:off x="3234576" y="1436717"/>
            <a:ext cx="7536873" cy="470898"/>
          </a:xfrm>
          <a:prstGeom prst="rect">
            <a:avLst/>
          </a:prstGeom>
          <a:noFill/>
        </p:spPr>
        <p:txBody>
          <a:bodyPr wrap="square">
            <a:spAutoFit/>
          </a:bodyPr>
          <a:lstStyle/>
          <a:p>
            <a:pPr algn="ctr">
              <a:spcAft>
                <a:spcPts val="721"/>
              </a:spcAft>
              <a:defRPr sz="2300" b="1">
                <a:solidFill>
                  <a:srgbClr val="C25B30"/>
                </a:solidFill>
                <a:latin typeface="Aptos"/>
              </a:defRPr>
            </a:pPr>
            <a:r>
              <a:rPr sz="2370" dirty="0">
                <a:latin typeface="Times New Roman" pitchFamily="18" charset="0"/>
                <a:cs typeface="Times New Roman" pitchFamily="18" charset="0"/>
              </a:rPr>
              <a:t>Cornerstone Project</a:t>
            </a:r>
          </a:p>
        </p:txBody>
      </p:sp>
      <p:sp>
        <p:nvSpPr>
          <p:cNvPr id="5" name="TextBox 4"/>
          <p:cNvSpPr txBox="1"/>
          <p:nvPr/>
        </p:nvSpPr>
        <p:spPr>
          <a:xfrm>
            <a:off x="2386678" y="2119614"/>
            <a:ext cx="9044247" cy="1690490"/>
          </a:xfrm>
          <a:prstGeom prst="rect">
            <a:avLst/>
          </a:prstGeom>
          <a:noFill/>
        </p:spPr>
        <p:txBody>
          <a:bodyPr wrap="square">
            <a:spAutoFit/>
          </a:bodyPr>
          <a:lstStyle/>
          <a:p>
            <a:pPr algn="ctr">
              <a:spcAft>
                <a:spcPts val="721"/>
              </a:spcAft>
              <a:defRPr sz="3000" b="1">
                <a:solidFill>
                  <a:srgbClr val="233464"/>
                </a:solidFill>
                <a:latin typeface="Aptos"/>
              </a:defRPr>
            </a:pPr>
            <a:r>
              <a:rPr lang="en-IN" sz="3091" b="1" dirty="0"/>
              <a:t>Music Streaming Data Analysis and Visualization System</a:t>
            </a:r>
          </a:p>
          <a:p>
            <a:pPr algn="ctr">
              <a:spcAft>
                <a:spcPts val="721"/>
              </a:spcAft>
              <a:defRPr sz="3000" b="1">
                <a:solidFill>
                  <a:srgbClr val="233464"/>
                </a:solidFill>
                <a:latin typeface="Aptos"/>
              </a:defRPr>
            </a:pPr>
            <a:endParaRPr sz="3297" dirty="0">
              <a:latin typeface="Times New Roman" pitchFamily="18" charset="0"/>
              <a:cs typeface="Times New Roman" pitchFamily="18" charset="0"/>
            </a:endParaRPr>
          </a:p>
        </p:txBody>
      </p:sp>
      <p:sp>
        <p:nvSpPr>
          <p:cNvPr id="6" name="TextBox 5"/>
          <p:cNvSpPr txBox="1"/>
          <p:nvPr/>
        </p:nvSpPr>
        <p:spPr>
          <a:xfrm>
            <a:off x="2921265" y="3175018"/>
            <a:ext cx="7913716" cy="461665"/>
          </a:xfrm>
          <a:prstGeom prst="rect">
            <a:avLst/>
          </a:prstGeom>
          <a:noFill/>
        </p:spPr>
        <p:txBody>
          <a:bodyPr wrap="square">
            <a:spAutoFit/>
          </a:bodyPr>
          <a:lstStyle/>
          <a:p>
            <a:pPr algn="ctr">
              <a:spcAft>
                <a:spcPts val="721"/>
              </a:spcAft>
              <a:defRPr sz="1800" b="0">
                <a:solidFill>
                  <a:srgbClr val="375BA0"/>
                </a:solidFill>
                <a:latin typeface="Aptos"/>
              </a:defRPr>
            </a:pPr>
            <a:r>
              <a:rPr sz="2400" dirty="0">
                <a:latin typeface="Times New Roman" pitchFamily="18" charset="0"/>
                <a:cs typeface="Times New Roman" pitchFamily="18" charset="0"/>
              </a:rPr>
              <a:t>Data Analytics</a:t>
            </a:r>
            <a:r>
              <a:rPr lang="en-IN" sz="2400" dirty="0">
                <a:latin typeface="Times New Roman" pitchFamily="18" charset="0"/>
                <a:cs typeface="Times New Roman" pitchFamily="18" charset="0"/>
              </a:rPr>
              <a:t> </a:t>
            </a:r>
            <a:r>
              <a:rPr lang="en-IN" sz="2400" dirty="0"/>
              <a:t>Essentials</a:t>
            </a:r>
            <a:endParaRPr sz="2400" dirty="0">
              <a:latin typeface="Times New Roman" pitchFamily="18" charset="0"/>
              <a:cs typeface="Times New Roman" pitchFamily="18" charset="0"/>
            </a:endParaRPr>
          </a:p>
        </p:txBody>
      </p:sp>
      <p:sp>
        <p:nvSpPr>
          <p:cNvPr id="7" name="TextBox 6"/>
          <p:cNvSpPr txBox="1"/>
          <p:nvPr/>
        </p:nvSpPr>
        <p:spPr>
          <a:xfrm>
            <a:off x="2810627" y="3650675"/>
            <a:ext cx="8196348" cy="2425510"/>
          </a:xfrm>
          <a:prstGeom prst="rect">
            <a:avLst/>
          </a:prstGeom>
          <a:noFill/>
        </p:spPr>
        <p:txBody>
          <a:bodyPr wrap="square">
            <a:spAutoFit/>
          </a:bodyPr>
          <a:lstStyle/>
          <a:p>
            <a:pPr algn="ctr">
              <a:spcAft>
                <a:spcPts val="721"/>
              </a:spcAft>
              <a:defRPr sz="1400" b="0">
                <a:solidFill>
                  <a:srgbClr val="2D2D2D"/>
                </a:solidFill>
                <a:latin typeface="Aptos"/>
              </a:defRPr>
            </a:pPr>
            <a:r>
              <a:rPr sz="2473" b="1" dirty="0">
                <a:solidFill>
                  <a:srgbClr val="FF0000"/>
                </a:solidFill>
                <a:latin typeface="Times New Roman" pitchFamily="18" charset="0"/>
                <a:cs typeface="Times New Roman" pitchFamily="18" charset="0"/>
              </a:rPr>
              <a:t>Presented b</a:t>
            </a:r>
            <a:r>
              <a:rPr lang="en-IN" sz="2473" b="1" dirty="0">
                <a:solidFill>
                  <a:srgbClr val="FF0000"/>
                </a:solidFill>
                <a:latin typeface="Times New Roman" pitchFamily="18" charset="0"/>
                <a:cs typeface="Times New Roman" pitchFamily="18" charset="0"/>
              </a:rPr>
              <a:t>y</a:t>
            </a:r>
          </a:p>
          <a:p>
            <a:pPr algn="ctr">
              <a:spcAft>
                <a:spcPts val="721"/>
              </a:spcAft>
              <a:defRPr sz="1400" b="0">
                <a:solidFill>
                  <a:srgbClr val="2D2D2D"/>
                </a:solidFill>
                <a:latin typeface="Aptos"/>
              </a:defRPr>
            </a:pPr>
            <a:r>
              <a:rPr lang="it-IT" sz="2473" b="1" dirty="0">
                <a:latin typeface="Times New Roman" pitchFamily="18" charset="0"/>
                <a:cs typeface="Times New Roman" pitchFamily="18" charset="0"/>
              </a:rPr>
              <a:t>A.Charwitha – 25B11CS010</a:t>
            </a:r>
          </a:p>
          <a:p>
            <a:pPr algn="ctr">
              <a:spcAft>
                <a:spcPts val="721"/>
              </a:spcAft>
              <a:defRPr sz="1400" b="0">
                <a:solidFill>
                  <a:srgbClr val="2D2D2D"/>
                </a:solidFill>
                <a:latin typeface="Aptos"/>
              </a:defRPr>
            </a:pPr>
            <a:r>
              <a:rPr lang="it-IT" sz="2473" b="1" dirty="0">
                <a:latin typeface="Times New Roman" pitchFamily="18" charset="0"/>
                <a:cs typeface="Times New Roman" pitchFamily="18" charset="0"/>
              </a:rPr>
              <a:t>D.Torana Srija – 25B11CS210</a:t>
            </a:r>
          </a:p>
          <a:p>
            <a:pPr algn="ctr">
              <a:spcAft>
                <a:spcPts val="721"/>
              </a:spcAft>
              <a:defRPr sz="1400" b="0">
                <a:solidFill>
                  <a:srgbClr val="2D2D2D"/>
                </a:solidFill>
                <a:latin typeface="Aptos"/>
              </a:defRPr>
            </a:pPr>
            <a:r>
              <a:rPr lang="it-IT" sz="2473" b="1" dirty="0">
                <a:latin typeface="Times New Roman" pitchFamily="18" charset="0"/>
                <a:cs typeface="Times New Roman" pitchFamily="18" charset="0"/>
              </a:rPr>
              <a:t>G.Keerthana – 25B11CS311</a:t>
            </a:r>
          </a:p>
          <a:p>
            <a:pPr algn="ctr">
              <a:spcAft>
                <a:spcPts val="721"/>
              </a:spcAft>
              <a:defRPr sz="1400" b="0">
                <a:solidFill>
                  <a:srgbClr val="2D2D2D"/>
                </a:solidFill>
                <a:latin typeface="Aptos"/>
              </a:defRPr>
            </a:pPr>
            <a:r>
              <a:rPr lang="it-IT" sz="2473" b="1" dirty="0">
                <a:latin typeface="Times New Roman" pitchFamily="18" charset="0"/>
                <a:cs typeface="Times New Roman" pitchFamily="18" charset="0"/>
              </a:rPr>
              <a:t>Diptrisha Das – 25B11CS236</a:t>
            </a:r>
          </a:p>
        </p:txBody>
      </p:sp>
      <p:sp>
        <p:nvSpPr>
          <p:cNvPr id="8" name="TextBox 7"/>
          <p:cNvSpPr txBox="1"/>
          <p:nvPr/>
        </p:nvSpPr>
        <p:spPr>
          <a:xfrm>
            <a:off x="2669310" y="6241476"/>
            <a:ext cx="8478982" cy="421879"/>
          </a:xfrm>
          <a:prstGeom prst="rect">
            <a:avLst/>
          </a:prstGeom>
          <a:noFill/>
        </p:spPr>
        <p:txBody>
          <a:bodyPr wrap="square">
            <a:spAutoFit/>
          </a:bodyPr>
          <a:lstStyle/>
          <a:p>
            <a:pPr algn="ctr">
              <a:spcAft>
                <a:spcPts val="721"/>
              </a:spcAft>
              <a:defRPr sz="1300" b="1">
                <a:solidFill>
                  <a:srgbClr val="233464"/>
                </a:solidFill>
                <a:latin typeface="Aptos"/>
              </a:defRPr>
            </a:pPr>
            <a:r>
              <a:rPr sz="2061" dirty="0">
                <a:latin typeface="Times New Roman" pitchFamily="18" charset="0"/>
                <a:cs typeface="Times New Roman" pitchFamily="18" charset="0"/>
              </a:rPr>
              <a:t>Department of</a:t>
            </a:r>
            <a:r>
              <a:rPr lang="en-IN" sz="2061" dirty="0">
                <a:latin typeface="Times New Roman" pitchFamily="18" charset="0"/>
                <a:cs typeface="Times New Roman" pitchFamily="18" charset="0"/>
              </a:rPr>
              <a:t> Computer Science and Engineering </a:t>
            </a:r>
            <a:endParaRPr sz="2061"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508000" y="220482"/>
            <a:ext cx="1447800" cy="617718"/>
          </a:xfrm>
          <a:prstGeom prst="rect">
            <a:avLst/>
          </a:prstGeom>
        </p:spPr>
      </p:pic>
      <p:grpSp>
        <p:nvGrpSpPr>
          <p:cNvPr id="5" name="object 3"/>
          <p:cNvGrpSpPr/>
          <p:nvPr/>
        </p:nvGrpSpPr>
        <p:grpSpPr>
          <a:xfrm>
            <a:off x="4239491" y="-83073"/>
            <a:ext cx="5495636" cy="1234623"/>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0" name="TextBox 9"/>
          <p:cNvSpPr txBox="1"/>
          <p:nvPr/>
        </p:nvSpPr>
        <p:spPr>
          <a:xfrm>
            <a:off x="4349406" y="159817"/>
            <a:ext cx="5275811" cy="454581"/>
          </a:xfrm>
          <a:prstGeom prst="rect">
            <a:avLst/>
          </a:prstGeom>
          <a:noFill/>
        </p:spPr>
        <p:txBody>
          <a:bodyPr wrap="square">
            <a:spAutoFit/>
          </a:bodyPr>
          <a:lstStyle/>
          <a:p>
            <a:pPr algn="ctr">
              <a:spcAft>
                <a:spcPts val="721"/>
              </a:spcAft>
              <a:defRPr sz="2200" b="1">
                <a:solidFill>
                  <a:srgbClr val="233464"/>
                </a:solidFill>
                <a:latin typeface="Aptos"/>
              </a:defRPr>
            </a:pPr>
            <a:r>
              <a:rPr lang="en-US" sz="2267" dirty="0">
                <a:solidFill>
                  <a:schemeClr val="bg1"/>
                </a:solidFill>
                <a:latin typeface="Times New Roman" pitchFamily="18" charset="0"/>
                <a:cs typeface="Times New Roman" pitchFamily="18" charset="0"/>
              </a:rPr>
              <a:t>Contents</a:t>
            </a:r>
            <a:endParaRPr sz="2267" dirty="0">
              <a:solidFill>
                <a:schemeClr val="bg1"/>
              </a:solidFill>
              <a:latin typeface="Times New Roman" pitchFamily="18" charset="0"/>
              <a:cs typeface="Times New Roman" pitchFamily="18" charset="0"/>
            </a:endParaRPr>
          </a:p>
        </p:txBody>
      </p:sp>
      <p:sp>
        <p:nvSpPr>
          <p:cNvPr id="11" name="TextBox 10"/>
          <p:cNvSpPr txBox="1"/>
          <p:nvPr/>
        </p:nvSpPr>
        <p:spPr>
          <a:xfrm>
            <a:off x="1574800" y="1447800"/>
            <a:ext cx="7348451" cy="5332948"/>
          </a:xfrm>
          <a:prstGeom prst="rect">
            <a:avLst/>
          </a:prstGeom>
          <a:noFill/>
        </p:spPr>
        <p:txBody>
          <a:bodyPr wrap="square">
            <a:spAutoFit/>
          </a:bodyPr>
          <a:lstStyle/>
          <a:p>
            <a:pPr algn="l">
              <a:spcAft>
                <a:spcPts val="721"/>
              </a:spcAft>
              <a:defRPr sz="2000" b="0">
                <a:solidFill>
                  <a:srgbClr val="2D2D2D"/>
                </a:solidFill>
                <a:latin typeface="Aptos"/>
              </a:defRPr>
            </a:pPr>
            <a:r>
              <a:rPr sz="2473" dirty="0">
                <a:latin typeface="Times New Roman" panose="02020603050405020304" pitchFamily="18" charset="0"/>
                <a:cs typeface="Times New Roman" panose="02020603050405020304" pitchFamily="18" charset="0"/>
              </a:rPr>
              <a:t>• Abstract</a:t>
            </a:r>
          </a:p>
          <a:p>
            <a:pPr algn="l">
              <a:spcAft>
                <a:spcPts val="721"/>
              </a:spcAft>
              <a:defRPr sz="2000" b="0">
                <a:solidFill>
                  <a:srgbClr val="2D2D2D"/>
                </a:solidFill>
                <a:latin typeface="Aptos"/>
              </a:defRPr>
            </a:pPr>
            <a:r>
              <a:rPr sz="2473" dirty="0">
                <a:latin typeface="Times New Roman" panose="02020603050405020304" pitchFamily="18" charset="0"/>
                <a:cs typeface="Times New Roman" panose="02020603050405020304" pitchFamily="18" charset="0"/>
              </a:rPr>
              <a:t>• Introduction</a:t>
            </a:r>
          </a:p>
          <a:p>
            <a:pPr algn="l">
              <a:spcAft>
                <a:spcPts val="721"/>
              </a:spcAft>
              <a:defRPr sz="2000" b="0">
                <a:solidFill>
                  <a:srgbClr val="2D2D2D"/>
                </a:solidFill>
                <a:latin typeface="Aptos"/>
              </a:defRPr>
            </a:pPr>
            <a:r>
              <a:rPr sz="2473" dirty="0">
                <a:latin typeface="Times New Roman" panose="02020603050405020304" pitchFamily="18" charset="0"/>
                <a:cs typeface="Times New Roman" panose="02020603050405020304" pitchFamily="18" charset="0"/>
              </a:rPr>
              <a:t>• Existing System &amp; Limitations</a:t>
            </a:r>
          </a:p>
          <a:p>
            <a:pPr algn="l">
              <a:spcAft>
                <a:spcPts val="721"/>
              </a:spcAft>
              <a:defRPr sz="2000" b="0">
                <a:solidFill>
                  <a:srgbClr val="2D2D2D"/>
                </a:solidFill>
                <a:latin typeface="Aptos"/>
              </a:defRPr>
            </a:pPr>
            <a:r>
              <a:rPr sz="2473" dirty="0">
                <a:latin typeface="Times New Roman" panose="02020603050405020304" pitchFamily="18" charset="0"/>
                <a:cs typeface="Times New Roman" panose="02020603050405020304" pitchFamily="18" charset="0"/>
              </a:rPr>
              <a:t>• Proposed System</a:t>
            </a:r>
          </a:p>
          <a:p>
            <a:pPr algn="l">
              <a:spcAft>
                <a:spcPts val="721"/>
              </a:spcAft>
              <a:defRPr sz="2000" b="0">
                <a:solidFill>
                  <a:srgbClr val="2D2D2D"/>
                </a:solidFill>
                <a:latin typeface="Aptos"/>
              </a:defRPr>
            </a:pPr>
            <a:r>
              <a:rPr sz="2473" dirty="0">
                <a:latin typeface="Times New Roman" panose="02020603050405020304" pitchFamily="18" charset="0"/>
                <a:cs typeface="Times New Roman" panose="02020603050405020304" pitchFamily="18" charset="0"/>
              </a:rPr>
              <a:t>• Dataset Description</a:t>
            </a:r>
          </a:p>
          <a:p>
            <a:pPr algn="l">
              <a:spcAft>
                <a:spcPts val="721"/>
              </a:spcAft>
              <a:defRPr sz="2000" b="0">
                <a:solidFill>
                  <a:srgbClr val="2D2D2D"/>
                </a:solidFill>
                <a:latin typeface="Aptos"/>
              </a:defRPr>
            </a:pPr>
            <a:r>
              <a:rPr sz="2473" dirty="0">
                <a:latin typeface="Times New Roman" panose="02020603050405020304" pitchFamily="18" charset="0"/>
                <a:cs typeface="Times New Roman" panose="02020603050405020304" pitchFamily="18" charset="0"/>
              </a:rPr>
              <a:t>• Requirements</a:t>
            </a:r>
          </a:p>
          <a:p>
            <a:pPr algn="l">
              <a:spcAft>
                <a:spcPts val="721"/>
              </a:spcAft>
              <a:defRPr sz="2000" b="0">
                <a:solidFill>
                  <a:srgbClr val="2D2D2D"/>
                </a:solidFill>
                <a:latin typeface="Aptos"/>
              </a:defRPr>
            </a:pPr>
            <a:r>
              <a:rPr sz="2473" dirty="0">
                <a:latin typeface="Times New Roman" panose="02020603050405020304" pitchFamily="18" charset="0"/>
                <a:cs typeface="Times New Roman" panose="02020603050405020304" pitchFamily="18" charset="0"/>
              </a:rPr>
              <a:t>• Methodology</a:t>
            </a:r>
          </a:p>
          <a:p>
            <a:pPr algn="l">
              <a:spcAft>
                <a:spcPts val="721"/>
              </a:spcAft>
              <a:defRPr sz="2000" b="0">
                <a:solidFill>
                  <a:srgbClr val="2D2D2D"/>
                </a:solidFill>
                <a:latin typeface="Aptos"/>
              </a:defRPr>
            </a:pPr>
            <a:r>
              <a:rPr sz="2473" dirty="0">
                <a:latin typeface="Times New Roman" panose="02020603050405020304" pitchFamily="18" charset="0"/>
                <a:cs typeface="Times New Roman" panose="02020603050405020304" pitchFamily="18" charset="0"/>
              </a:rPr>
              <a:t>• Frontend Dashboard</a:t>
            </a:r>
          </a:p>
          <a:p>
            <a:pPr algn="l">
              <a:spcAft>
                <a:spcPts val="721"/>
              </a:spcAft>
              <a:defRPr sz="2000" b="0">
                <a:solidFill>
                  <a:srgbClr val="2D2D2D"/>
                </a:solidFill>
                <a:latin typeface="Aptos"/>
              </a:defRPr>
            </a:pPr>
            <a:r>
              <a:rPr sz="2473" dirty="0">
                <a:latin typeface="Times New Roman" panose="02020603050405020304" pitchFamily="18" charset="0"/>
                <a:cs typeface="Times New Roman" panose="02020603050405020304" pitchFamily="18" charset="0"/>
              </a:rPr>
              <a:t>• Expected Outputs</a:t>
            </a:r>
          </a:p>
          <a:p>
            <a:pPr algn="l">
              <a:spcAft>
                <a:spcPts val="721"/>
              </a:spcAft>
              <a:defRPr sz="2000" b="0">
                <a:solidFill>
                  <a:srgbClr val="2D2D2D"/>
                </a:solidFill>
                <a:latin typeface="Aptos"/>
              </a:defRPr>
            </a:pPr>
            <a:r>
              <a:rPr sz="2473" dirty="0">
                <a:latin typeface="Times New Roman" panose="02020603050405020304" pitchFamily="18" charset="0"/>
                <a:cs typeface="Times New Roman" panose="02020603050405020304" pitchFamily="18" charset="0"/>
              </a:rPr>
              <a:t>• Project Workflow</a:t>
            </a:r>
          </a:p>
          <a:p>
            <a:pPr algn="l">
              <a:spcAft>
                <a:spcPts val="721"/>
              </a:spcAft>
              <a:defRPr sz="2000" b="0">
                <a:solidFill>
                  <a:srgbClr val="2D2D2D"/>
                </a:solidFill>
                <a:latin typeface="Aptos"/>
              </a:defRPr>
            </a:pPr>
            <a:r>
              <a:rPr sz="2473" dirty="0">
                <a:latin typeface="Times New Roman" panose="02020603050405020304" pitchFamily="18" charset="0"/>
                <a:cs typeface="Times New Roman" panose="02020603050405020304" pitchFamily="18" charset="0"/>
              </a:rPr>
              <a:t>• 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4475018" y="-62441"/>
            <a:ext cx="5258568" cy="1234623"/>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431800" y="241114"/>
            <a:ext cx="1447800" cy="520886"/>
          </a:xfrm>
          <a:prstGeom prst="rect">
            <a:avLst/>
          </a:prstGeom>
        </p:spPr>
      </p:pic>
      <p:sp>
        <p:nvSpPr>
          <p:cNvPr id="11" name="TextBox 10"/>
          <p:cNvSpPr txBox="1"/>
          <p:nvPr/>
        </p:nvSpPr>
        <p:spPr>
          <a:xfrm>
            <a:off x="4475019" y="196275"/>
            <a:ext cx="5275811" cy="454581"/>
          </a:xfrm>
          <a:prstGeom prst="rect">
            <a:avLst/>
          </a:prstGeom>
          <a:noFill/>
        </p:spPr>
        <p:txBody>
          <a:bodyPr wrap="square">
            <a:spAutoFit/>
          </a:bodyPr>
          <a:lstStyle/>
          <a:p>
            <a:pPr algn="ctr">
              <a:spcAft>
                <a:spcPts val="721"/>
              </a:spcAft>
              <a:defRPr sz="2200" b="1">
                <a:solidFill>
                  <a:srgbClr val="233464"/>
                </a:solidFill>
                <a:latin typeface="Aptos"/>
              </a:defRPr>
            </a:pPr>
            <a:r>
              <a:rPr sz="2267" dirty="0">
                <a:solidFill>
                  <a:schemeClr val="bg1"/>
                </a:solidFill>
                <a:latin typeface="Times New Roman" pitchFamily="18" charset="0"/>
                <a:cs typeface="Times New Roman" pitchFamily="18" charset="0"/>
              </a:rPr>
              <a:t>ABSTRACT</a:t>
            </a:r>
          </a:p>
        </p:txBody>
      </p:sp>
      <p:sp>
        <p:nvSpPr>
          <p:cNvPr id="12" name="TextBox 11"/>
          <p:cNvSpPr txBox="1"/>
          <p:nvPr/>
        </p:nvSpPr>
        <p:spPr>
          <a:xfrm>
            <a:off x="965440" y="1103419"/>
            <a:ext cx="12115800" cy="5262979"/>
          </a:xfrm>
          <a:prstGeom prst="rect">
            <a:avLst/>
          </a:prstGeom>
          <a:noFill/>
        </p:spPr>
        <p:txBody>
          <a:bodyPr wrap="square">
            <a:spAutoFit/>
          </a:bodyPr>
          <a:lstStyle/>
          <a:p>
            <a:pPr algn="just">
              <a:spcAft>
                <a:spcPts val="721"/>
              </a:spcAft>
              <a:defRPr sz="1900" b="0">
                <a:solidFill>
                  <a:srgbClr val="2D2D2D"/>
                </a:solidFill>
                <a:latin typeface="Aptos"/>
              </a:defRPr>
            </a:pPr>
            <a:r>
              <a:rPr lang="en-IN" sz="2400" dirty="0">
                <a:latin typeface="Times New Roman" panose="02020603050405020304" pitchFamily="18" charset="0"/>
                <a:cs typeface="Times New Roman" panose="02020603050405020304" pitchFamily="18" charset="0"/>
              </a:rPr>
              <a:t>The rapid growth of music streaming platforms has generated a vast amount of listening data that can be </a:t>
            </a:r>
            <a:r>
              <a:rPr lang="en-IN" sz="2400" dirty="0" err="1">
                <a:latin typeface="Times New Roman" panose="02020603050405020304" pitchFamily="18" charset="0"/>
                <a:cs typeface="Times New Roman" panose="02020603050405020304" pitchFamily="18" charset="0"/>
              </a:rPr>
              <a:t>analyzed</a:t>
            </a:r>
            <a:r>
              <a:rPr lang="en-IN" sz="2400" dirty="0">
                <a:latin typeface="Times New Roman" panose="02020603050405020304" pitchFamily="18" charset="0"/>
                <a:cs typeface="Times New Roman" panose="02020603050405020304" pitchFamily="18" charset="0"/>
              </a:rPr>
              <a:t> to understand user preferences and music consumption trends. The objective of this project is to develop a Music Streaming Data Analysis System that provides meaningful insights from a music streaming dataset using data analytics and visualization techniques. The implementation mainly focuses on loading the music streaming dataset, performing artist and genre analysis, identifying the most-played songs, and </a:t>
            </a:r>
            <a:r>
              <a:rPr lang="en-IN" sz="2400" dirty="0" err="1">
                <a:latin typeface="Times New Roman" panose="02020603050405020304" pitchFamily="18" charset="0"/>
                <a:cs typeface="Times New Roman" panose="02020603050405020304" pitchFamily="18" charset="0"/>
              </a:rPr>
              <a:t>analyzing</a:t>
            </a:r>
            <a:r>
              <a:rPr lang="en-IN" sz="2400" dirty="0">
                <a:latin typeface="Times New Roman" panose="02020603050405020304" pitchFamily="18" charset="0"/>
                <a:cs typeface="Times New Roman" panose="02020603050405020304" pitchFamily="18" charset="0"/>
              </a:rPr>
              <a:t> listening trends over time. To enhance data interpretation, the system generates various visualizations including a bar chart for top artists, a pie chart representing genre distribution, and a line chart illustrating daily streaming activity. The project also includes data preprocessing techniques such as handling missing values, removing duplicate records, and formatting data to ensure accurate analysis. The documentation presents the project objective, dataset description, preprocessing methods, analytical results, workflow, screenshots of the developed system, and possible future enhancements. As an extension, a song recommendation module can be integrated to suggest songs based on users' listening history and preferences, making the system more intelligent and user-centric. </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4475018" y="-117763"/>
            <a:ext cx="5258568" cy="1234623"/>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79400" y="105132"/>
            <a:ext cx="1447800" cy="733068"/>
          </a:xfrm>
          <a:prstGeom prst="rect">
            <a:avLst/>
          </a:prstGeom>
        </p:spPr>
      </p:pic>
      <p:sp>
        <p:nvSpPr>
          <p:cNvPr id="18" name="TextBox 17"/>
          <p:cNvSpPr txBox="1"/>
          <p:nvPr/>
        </p:nvSpPr>
        <p:spPr>
          <a:xfrm>
            <a:off x="4270897" y="105132"/>
            <a:ext cx="5275811" cy="454581"/>
          </a:xfrm>
          <a:prstGeom prst="rect">
            <a:avLst/>
          </a:prstGeom>
          <a:noFill/>
        </p:spPr>
        <p:txBody>
          <a:bodyPr wrap="square">
            <a:spAutoFit/>
          </a:bodyPr>
          <a:lstStyle/>
          <a:p>
            <a:pPr algn="ctr">
              <a:spcAft>
                <a:spcPts val="721"/>
              </a:spcAft>
              <a:defRPr sz="2200" b="1">
                <a:solidFill>
                  <a:srgbClr val="233464"/>
                </a:solidFill>
                <a:latin typeface="Aptos"/>
              </a:defRPr>
            </a:pPr>
            <a:r>
              <a:rPr sz="2267" dirty="0">
                <a:solidFill>
                  <a:schemeClr val="bg1"/>
                </a:solidFill>
                <a:latin typeface="Times New Roman" pitchFamily="18" charset="0"/>
                <a:cs typeface="Times New Roman" pitchFamily="18" charset="0"/>
              </a:rPr>
              <a:t>Introduction</a:t>
            </a:r>
          </a:p>
        </p:txBody>
      </p:sp>
      <p:sp>
        <p:nvSpPr>
          <p:cNvPr id="19" name="TextBox 18"/>
          <p:cNvSpPr txBox="1"/>
          <p:nvPr/>
        </p:nvSpPr>
        <p:spPr>
          <a:xfrm>
            <a:off x="759792" y="1068090"/>
            <a:ext cx="7063408" cy="6001643"/>
          </a:xfrm>
          <a:prstGeom prst="rect">
            <a:avLst/>
          </a:prstGeom>
          <a:noFill/>
        </p:spPr>
        <p:txBody>
          <a:bodyPr wrap="square">
            <a:spAutoFit/>
          </a:bodyPr>
          <a:lstStyle/>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Music streaming platforms generate a large amount of user data every day.</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Streaming data contains information about artists, genres, platforms, subscriptions, and listening behaviour.</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Raw data may contain missing values and duplicate records.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Python and Pandas can be used to clean and analyse the data.</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 analysis helps identify popular artists, genres, and listening patterns.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Visualization makes the analysed information easier to understand.</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project focuses on converting music streaming data into meaningful insights.</a:t>
            </a:r>
          </a:p>
          <a:p>
            <a:pPr marL="342900" indent="-342900" algn="l">
              <a:spcAft>
                <a:spcPts val="721"/>
              </a:spcAft>
              <a:buFont typeface="Arial" panose="020B0604020202020204" pitchFamily="34" charset="0"/>
              <a:buChar char="•"/>
              <a:defRPr sz="1900" b="0">
                <a:solidFill>
                  <a:srgbClr val="2D2D2D"/>
                </a:solidFill>
                <a:latin typeface="Aptos"/>
              </a:defRPr>
            </a:pPr>
            <a:endParaRPr lang="en-US" sz="24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B9A2D08B-7DAF-B88C-CF97-05B30BB1472E}"/>
              </a:ext>
            </a:extLst>
          </p:cNvPr>
          <p:cNvPicPr>
            <a:picLocks noChangeAspect="1"/>
          </p:cNvPicPr>
          <p:nvPr/>
        </p:nvPicPr>
        <p:blipFill>
          <a:blip r:embed="rId6"/>
          <a:stretch>
            <a:fillRect/>
          </a:stretch>
        </p:blipFill>
        <p:spPr>
          <a:xfrm>
            <a:off x="7823200" y="1752600"/>
            <a:ext cx="5333456" cy="3555637"/>
          </a:xfrm>
          <a:prstGeom prst="rect">
            <a:avLst/>
          </a:prstGeom>
        </p:spPr>
      </p:pic>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4475018" y="-30179"/>
            <a:ext cx="5258568" cy="1234623"/>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355600" y="196275"/>
            <a:ext cx="1752600" cy="641925"/>
          </a:xfrm>
          <a:prstGeom prst="rect">
            <a:avLst/>
          </a:prstGeom>
        </p:spPr>
      </p:pic>
      <p:sp>
        <p:nvSpPr>
          <p:cNvPr id="18" name="TextBox 17"/>
          <p:cNvSpPr txBox="1"/>
          <p:nvPr/>
        </p:nvSpPr>
        <p:spPr>
          <a:xfrm>
            <a:off x="4475018" y="196275"/>
            <a:ext cx="5338618" cy="454581"/>
          </a:xfrm>
          <a:prstGeom prst="rect">
            <a:avLst/>
          </a:prstGeom>
          <a:noFill/>
        </p:spPr>
        <p:txBody>
          <a:bodyPr wrap="square">
            <a:spAutoFit/>
          </a:bodyPr>
          <a:lstStyle/>
          <a:p>
            <a:pPr algn="ctr">
              <a:spcAft>
                <a:spcPts val="721"/>
              </a:spcAft>
              <a:defRPr sz="2200" b="1">
                <a:solidFill>
                  <a:srgbClr val="233464"/>
                </a:solidFill>
                <a:latin typeface="Aptos"/>
              </a:defRPr>
            </a:pPr>
            <a:r>
              <a:rPr sz="2267" dirty="0">
                <a:solidFill>
                  <a:schemeClr val="bg1"/>
                </a:solidFill>
                <a:latin typeface="Times New Roman" pitchFamily="18" charset="0"/>
                <a:cs typeface="Times New Roman" pitchFamily="18" charset="0"/>
              </a:rPr>
              <a:t>Existing System</a:t>
            </a:r>
          </a:p>
        </p:txBody>
      </p:sp>
      <p:sp>
        <p:nvSpPr>
          <p:cNvPr id="19" name="TextBox 18"/>
          <p:cNvSpPr txBox="1"/>
          <p:nvPr/>
        </p:nvSpPr>
        <p:spPr>
          <a:xfrm>
            <a:off x="736600" y="1524000"/>
            <a:ext cx="7277100" cy="4524315"/>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 Music streaming data is generated from different user activities.</a:t>
            </a:r>
          </a:p>
          <a:p>
            <a:r>
              <a:rPr lang="en-IN" sz="2400" dirty="0">
                <a:latin typeface="Times New Roman" panose="02020603050405020304" pitchFamily="18" charset="0"/>
                <a:cs typeface="Times New Roman" panose="02020603050405020304" pitchFamily="18" charset="0"/>
              </a:rPr>
              <a:t>• Raw datasets mainly contain records in tabular form.</a:t>
            </a:r>
          </a:p>
          <a:p>
            <a:r>
              <a:rPr lang="en-IN" sz="2400" dirty="0">
                <a:latin typeface="Times New Roman" panose="02020603050405020304" pitchFamily="18" charset="0"/>
                <a:cs typeface="Times New Roman" panose="02020603050405020304" pitchFamily="18" charset="0"/>
              </a:rPr>
              <a:t>• Finding popular artists and genres manually can be difficult.</a:t>
            </a:r>
          </a:p>
          <a:p>
            <a:r>
              <a:rPr lang="en-IN" sz="2400" dirty="0">
                <a:latin typeface="Times New Roman" panose="02020603050405020304" pitchFamily="18" charset="0"/>
                <a:cs typeface="Times New Roman" panose="02020603050405020304" pitchFamily="18" charset="0"/>
              </a:rPr>
              <a:t>• Large datasets require efficient data-processing techniques.</a:t>
            </a:r>
          </a:p>
          <a:p>
            <a:r>
              <a:rPr lang="en-IN" sz="2400" dirty="0">
                <a:latin typeface="Times New Roman" panose="02020603050405020304" pitchFamily="18" charset="0"/>
                <a:cs typeface="Times New Roman" panose="02020603050405020304" pitchFamily="18" charset="0"/>
              </a:rPr>
              <a:t>• Listening patterns are difficult to understand from raw tables alone.</a:t>
            </a:r>
          </a:p>
          <a:p>
            <a:r>
              <a:rPr lang="en-IN" sz="2400" dirty="0">
                <a:latin typeface="Times New Roman" panose="02020603050405020304" pitchFamily="18" charset="0"/>
                <a:cs typeface="Times New Roman" panose="02020603050405020304" pitchFamily="18" charset="0"/>
              </a:rPr>
              <a:t>• Without visualization, comparing different categories can be time-consuming.</a:t>
            </a:r>
          </a:p>
          <a:p>
            <a:pPr algn="l">
              <a:spcAft>
                <a:spcPts val="721"/>
              </a:spcAft>
              <a:defRPr sz="1900" b="0">
                <a:solidFill>
                  <a:srgbClr val="2D2D2D"/>
                </a:solidFill>
                <a:latin typeface="Aptos"/>
              </a:defRPr>
            </a:pPr>
            <a:endParaRPr sz="24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82675938-A5B6-488C-CA2B-3EA73312D9DE}"/>
              </a:ext>
            </a:extLst>
          </p:cNvPr>
          <p:cNvPicPr>
            <a:picLocks noChangeAspect="1"/>
          </p:cNvPicPr>
          <p:nvPr/>
        </p:nvPicPr>
        <p:blipFill>
          <a:blip r:embed="rId6"/>
          <a:stretch>
            <a:fillRect/>
          </a:stretch>
        </p:blipFill>
        <p:spPr>
          <a:xfrm>
            <a:off x="8013700" y="1991463"/>
            <a:ext cx="5524500" cy="3683000"/>
          </a:xfrm>
          <a:prstGeom prst="rect">
            <a:avLst/>
          </a:prstGeom>
        </p:spPr>
      </p:pic>
    </p:spTree>
    <p:extLst>
      <p:ext uri="{BB962C8B-B14F-4D97-AF65-F5344CB8AC3E}">
        <p14:creationId xmlns:p14="http://schemas.microsoft.com/office/powerpoint/2010/main" val="4273835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25B97-4948-1D36-1564-48F015098A9E}"/>
            </a:ext>
          </a:extLst>
        </p:cNvPr>
        <p:cNvGrpSpPr/>
        <p:nvPr/>
      </p:nvGrpSpPr>
      <p:grpSpPr>
        <a:xfrm>
          <a:off x="0" y="0"/>
          <a:ext cx="0" cy="0"/>
          <a:chOff x="0" y="0"/>
          <a:chExt cx="0" cy="0"/>
        </a:xfrm>
      </p:grpSpPr>
      <p:pic>
        <p:nvPicPr>
          <p:cNvPr id="17" name="object 3">
            <a:extLst>
              <a:ext uri="{FF2B5EF4-FFF2-40B4-BE49-F238E27FC236}">
                <a16:creationId xmlns:a16="http://schemas.microsoft.com/office/drawing/2014/main" id="{D28B387B-EB3D-FC8A-3A51-DDD2B8696A73}"/>
              </a:ext>
            </a:extLst>
          </p:cNvPr>
          <p:cNvPicPr/>
          <p:nvPr/>
        </p:nvPicPr>
        <p:blipFill>
          <a:blip r:embed="rId2" cstate="print"/>
          <a:stretch>
            <a:fillRect/>
          </a:stretch>
        </p:blipFill>
        <p:spPr>
          <a:xfrm>
            <a:off x="584200" y="185285"/>
            <a:ext cx="1524000" cy="729115"/>
          </a:xfrm>
          <a:prstGeom prst="rect">
            <a:avLst/>
          </a:prstGeom>
        </p:spPr>
      </p:pic>
      <p:grpSp>
        <p:nvGrpSpPr>
          <p:cNvPr id="2" name="object 3">
            <a:extLst>
              <a:ext uri="{FF2B5EF4-FFF2-40B4-BE49-F238E27FC236}">
                <a16:creationId xmlns:a16="http://schemas.microsoft.com/office/drawing/2014/main" id="{5B758792-840A-895D-A2CD-A09955CC1720}"/>
              </a:ext>
            </a:extLst>
          </p:cNvPr>
          <p:cNvGrpSpPr/>
          <p:nvPr/>
        </p:nvGrpSpPr>
        <p:grpSpPr>
          <a:xfrm>
            <a:off x="4553527" y="-117763"/>
            <a:ext cx="5258568" cy="1234623"/>
            <a:chOff x="2648188" y="47148"/>
            <a:chExt cx="5103904" cy="1198311"/>
          </a:xfrm>
        </p:grpSpPr>
        <p:pic>
          <p:nvPicPr>
            <p:cNvPr id="3" name="object 4">
              <a:extLst>
                <a:ext uri="{FF2B5EF4-FFF2-40B4-BE49-F238E27FC236}">
                  <a16:creationId xmlns:a16="http://schemas.microsoft.com/office/drawing/2014/main" id="{E290B6E4-4C6A-D92F-FFFC-B388B7843517}"/>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87F4EE37-279F-308C-F87F-6E638DA19370}"/>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8ED23BED-35EB-2EF2-62D6-17D1E3CB0003}"/>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2F06FBF5-D468-2472-2E09-3659EB0BF5E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8" name="TextBox 17"/>
          <p:cNvSpPr txBox="1"/>
          <p:nvPr/>
        </p:nvSpPr>
        <p:spPr>
          <a:xfrm>
            <a:off x="4553528" y="146029"/>
            <a:ext cx="5275811" cy="454581"/>
          </a:xfrm>
          <a:prstGeom prst="rect">
            <a:avLst/>
          </a:prstGeom>
          <a:noFill/>
        </p:spPr>
        <p:txBody>
          <a:bodyPr wrap="square">
            <a:spAutoFit/>
          </a:bodyPr>
          <a:lstStyle/>
          <a:p>
            <a:pPr algn="ctr">
              <a:spcAft>
                <a:spcPts val="721"/>
              </a:spcAft>
              <a:defRPr sz="2200" b="1">
                <a:solidFill>
                  <a:srgbClr val="233464"/>
                </a:solidFill>
                <a:latin typeface="Aptos"/>
              </a:defRPr>
            </a:pPr>
            <a:r>
              <a:rPr lang="en-IN" sz="2267">
                <a:solidFill>
                  <a:schemeClr val="bg1"/>
                </a:solidFill>
                <a:latin typeface="Times New Roman" pitchFamily="18" charset="0"/>
                <a:cs typeface="Times New Roman" pitchFamily="18" charset="0"/>
              </a:rPr>
              <a:t>Limitations of Existing System</a:t>
            </a:r>
            <a:endParaRPr lang="en-IN" sz="2267" dirty="0">
              <a:solidFill>
                <a:schemeClr val="bg1"/>
              </a:solidFill>
              <a:latin typeface="Times New Roman" pitchFamily="18" charset="0"/>
              <a:cs typeface="Times New Roman" pitchFamily="18" charset="0"/>
            </a:endParaRPr>
          </a:p>
        </p:txBody>
      </p:sp>
      <p:sp>
        <p:nvSpPr>
          <p:cNvPr id="19" name="TextBox 18"/>
          <p:cNvSpPr txBox="1"/>
          <p:nvPr/>
        </p:nvSpPr>
        <p:spPr>
          <a:xfrm>
            <a:off x="965200" y="1546379"/>
            <a:ext cx="9144000" cy="3785652"/>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Manual analysis of large datasets is time-consuming.</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Raw data is difficult to interpret directly.</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Duplicate records can affect the accuracy of analysis.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Missing values can affect calculations and results.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Artist and genre preferences are difficult to compare</a:t>
            </a:r>
          </a:p>
          <a:p>
            <a:r>
              <a:rPr lang="en-US" sz="2400" dirty="0">
                <a:latin typeface="Times New Roman" panose="02020603050405020304" pitchFamily="18" charset="0"/>
                <a:cs typeface="Times New Roman" panose="02020603050405020304" pitchFamily="18" charset="0"/>
              </a:rPr>
              <a:t>     manually.</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Listening trends are not easily visible in raw data.</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Lack of visualization makes important patterns difficult to </a:t>
            </a:r>
          </a:p>
          <a:p>
            <a:r>
              <a:rPr lang="en-US" sz="2400" dirty="0">
                <a:latin typeface="Times New Roman" panose="02020603050405020304" pitchFamily="18" charset="0"/>
                <a:cs typeface="Times New Roman" panose="02020603050405020304" pitchFamily="18" charset="0"/>
              </a:rPr>
              <a:t>     identify.</a:t>
            </a:r>
          </a:p>
          <a:p>
            <a:pPr marL="342900" indent="-342900" algn="l">
              <a:spcAft>
                <a:spcPts val="721"/>
              </a:spcAft>
              <a:buFont typeface="Arial" panose="020B0604020202020204" pitchFamily="34" charset="0"/>
              <a:buChar char="•"/>
              <a:defRPr sz="1800" b="0">
                <a:solidFill>
                  <a:srgbClr val="2D2D2D"/>
                </a:solidFill>
                <a:latin typeface="Aptos"/>
              </a:defRPr>
            </a:pPr>
            <a:endParaRPr lang="en-US"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FA120B1C-CABF-CCFE-F51C-3E511B4FEFB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661399" y="1650339"/>
            <a:ext cx="4725391" cy="3150261"/>
          </a:xfrm>
          <a:prstGeom prst="rect">
            <a:avLst/>
          </a:prstGeom>
        </p:spPr>
      </p:pic>
    </p:spTree>
    <p:extLst>
      <p:ext uri="{BB962C8B-B14F-4D97-AF65-F5344CB8AC3E}">
        <p14:creationId xmlns:p14="http://schemas.microsoft.com/office/powerpoint/2010/main" val="1626336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object 3">
            <a:extLst>
              <a:ext uri="{FF2B5EF4-FFF2-40B4-BE49-F238E27FC236}">
                <a16:creationId xmlns:a16="http://schemas.microsoft.com/office/drawing/2014/main" id="{EED75953-77B8-EB79-983F-0DFB76BE35E9}"/>
              </a:ext>
            </a:extLst>
          </p:cNvPr>
          <p:cNvPicPr/>
          <p:nvPr/>
        </p:nvPicPr>
        <p:blipFill>
          <a:blip r:embed="rId2" cstate="print"/>
          <a:stretch>
            <a:fillRect/>
          </a:stretch>
        </p:blipFill>
        <p:spPr>
          <a:xfrm>
            <a:off x="508000" y="268405"/>
            <a:ext cx="1524000" cy="698215"/>
          </a:xfrm>
          <a:prstGeom prst="rect">
            <a:avLst/>
          </a:prstGeom>
        </p:spPr>
      </p:pic>
      <p:grpSp>
        <p:nvGrpSpPr>
          <p:cNvPr id="3" name="object 3">
            <a:extLst>
              <a:ext uri="{FF2B5EF4-FFF2-40B4-BE49-F238E27FC236}">
                <a16:creationId xmlns:a16="http://schemas.microsoft.com/office/drawing/2014/main" id="{39A132B5-7282-BB0D-41D0-2D605FAF9D2A}"/>
              </a:ext>
            </a:extLst>
          </p:cNvPr>
          <p:cNvGrpSpPr/>
          <p:nvPr/>
        </p:nvGrpSpPr>
        <p:grpSpPr>
          <a:xfrm>
            <a:off x="4553528" y="117764"/>
            <a:ext cx="5149214" cy="1125378"/>
            <a:chOff x="2703195" y="86439"/>
            <a:chExt cx="4997767" cy="1092279"/>
          </a:xfrm>
        </p:grpSpPr>
        <p:pic>
          <p:nvPicPr>
            <p:cNvPr id="5" name="object 5">
              <a:extLst>
                <a:ext uri="{FF2B5EF4-FFF2-40B4-BE49-F238E27FC236}">
                  <a16:creationId xmlns:a16="http://schemas.microsoft.com/office/drawing/2014/main" id="{19E5F2C6-879E-09C8-70D8-F12E4105BA45}"/>
                </a:ext>
              </a:extLst>
            </p:cNvPr>
            <p:cNvPicPr/>
            <p:nvPr/>
          </p:nvPicPr>
          <p:blipFill>
            <a:blip r:embed="rId3" cstate="print"/>
            <a:stretch>
              <a:fillRect/>
            </a:stretch>
          </p:blipFill>
          <p:spPr>
            <a:xfrm>
              <a:off x="2703195" y="86439"/>
              <a:ext cx="4997767" cy="1092279"/>
            </a:xfrm>
            <a:prstGeom prst="rect">
              <a:avLst/>
            </a:prstGeom>
          </p:spPr>
        </p:pic>
        <p:pic>
          <p:nvPicPr>
            <p:cNvPr id="6" name="object 6">
              <a:extLst>
                <a:ext uri="{FF2B5EF4-FFF2-40B4-BE49-F238E27FC236}">
                  <a16:creationId xmlns:a16="http://schemas.microsoft.com/office/drawing/2014/main" id="{12F6F0F7-7EC3-7119-588E-9CA45688A5E4}"/>
                </a:ext>
              </a:extLst>
            </p:cNvPr>
            <p:cNvPicPr/>
            <p:nvPr/>
          </p:nvPicPr>
          <p:blipFill>
            <a:blip r:embed="rId4" cstate="print"/>
            <a:stretch>
              <a:fillRect/>
            </a:stretch>
          </p:blipFill>
          <p:spPr>
            <a:xfrm>
              <a:off x="2828925" y="243549"/>
              <a:ext cx="4585268" cy="522565"/>
            </a:xfrm>
            <a:prstGeom prst="rect">
              <a:avLst/>
            </a:prstGeom>
          </p:spPr>
        </p:pic>
        <p:sp>
          <p:nvSpPr>
            <p:cNvPr id="7" name="object 7">
              <a:extLst>
                <a:ext uri="{FF2B5EF4-FFF2-40B4-BE49-F238E27FC236}">
                  <a16:creationId xmlns:a16="http://schemas.microsoft.com/office/drawing/2014/main" id="{6FF94120-5DAA-BA86-6F61-CE59BF796C6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8" name="TextBox 17"/>
          <p:cNvSpPr txBox="1"/>
          <p:nvPr/>
        </p:nvSpPr>
        <p:spPr>
          <a:xfrm>
            <a:off x="4553528" y="268405"/>
            <a:ext cx="5275811" cy="454581"/>
          </a:xfrm>
          <a:prstGeom prst="rect">
            <a:avLst/>
          </a:prstGeom>
          <a:noFill/>
        </p:spPr>
        <p:txBody>
          <a:bodyPr wrap="square">
            <a:spAutoFit/>
          </a:bodyPr>
          <a:lstStyle/>
          <a:p>
            <a:pPr algn="ctr">
              <a:spcAft>
                <a:spcPts val="721"/>
              </a:spcAft>
              <a:defRPr sz="2200" b="1">
                <a:solidFill>
                  <a:srgbClr val="233464"/>
                </a:solidFill>
                <a:latin typeface="Aptos"/>
              </a:defRPr>
            </a:pPr>
            <a:r>
              <a:rPr sz="2267" dirty="0">
                <a:solidFill>
                  <a:schemeClr val="bg1"/>
                </a:solidFill>
                <a:latin typeface="Times New Roman" pitchFamily="18" charset="0"/>
                <a:cs typeface="Times New Roman" pitchFamily="18" charset="0"/>
              </a:rPr>
              <a:t>Proposed System</a:t>
            </a:r>
          </a:p>
        </p:txBody>
      </p:sp>
      <p:sp>
        <p:nvSpPr>
          <p:cNvPr id="19" name="TextBox 18"/>
          <p:cNvSpPr txBox="1"/>
          <p:nvPr/>
        </p:nvSpPr>
        <p:spPr>
          <a:xfrm>
            <a:off x="812800" y="1559442"/>
            <a:ext cx="8761615" cy="3785652"/>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 Load the music streaming dataset using Pandas.</a:t>
            </a:r>
          </a:p>
          <a:p>
            <a:r>
              <a:rPr lang="en-IN" sz="2400" dirty="0">
                <a:latin typeface="Times New Roman" panose="02020603050405020304" pitchFamily="18" charset="0"/>
                <a:cs typeface="Times New Roman" panose="02020603050405020304" pitchFamily="18" charset="0"/>
              </a:rPr>
              <a:t>• Explore the dataset and its attributes.</a:t>
            </a:r>
          </a:p>
          <a:p>
            <a:r>
              <a:rPr lang="en-IN" sz="2400" dirty="0">
                <a:latin typeface="Times New Roman" panose="02020603050405020304" pitchFamily="18" charset="0"/>
                <a:cs typeface="Times New Roman" panose="02020603050405020304" pitchFamily="18" charset="0"/>
              </a:rPr>
              <a:t>• Check missing values and duplicate records.</a:t>
            </a:r>
          </a:p>
          <a:p>
            <a:r>
              <a:rPr lang="en-IN" sz="2400" dirty="0">
                <a:latin typeface="Times New Roman" panose="02020603050405020304" pitchFamily="18" charset="0"/>
                <a:cs typeface="Times New Roman" panose="02020603050405020304" pitchFamily="18" charset="0"/>
              </a:rPr>
              <a:t>• Clean and prepare the dataset for analysis.</a:t>
            </a:r>
          </a:p>
          <a:p>
            <a:r>
              <a:rPr lang="en-IN" sz="2400" dirty="0">
                <a:latin typeface="Times New Roman" panose="02020603050405020304" pitchFamily="18" charset="0"/>
                <a:cs typeface="Times New Roman" panose="02020603050405020304" pitchFamily="18" charset="0"/>
              </a:rPr>
              <a:t>• Analyse popular artists and genres.</a:t>
            </a:r>
          </a:p>
          <a:p>
            <a:r>
              <a:rPr lang="en-IN" sz="2400" dirty="0">
                <a:latin typeface="Times New Roman" panose="02020603050405020304" pitchFamily="18" charset="0"/>
                <a:cs typeface="Times New Roman" panose="02020603050405020304" pitchFamily="18" charset="0"/>
              </a:rPr>
              <a:t>• Analyse music consumption using songs-per-day data.</a:t>
            </a:r>
          </a:p>
          <a:p>
            <a:r>
              <a:rPr lang="en-IN" sz="2400" dirty="0">
                <a:latin typeface="Times New Roman" panose="02020603050405020304" pitchFamily="18" charset="0"/>
                <a:cs typeface="Times New Roman" panose="02020603050405020304" pitchFamily="18" charset="0"/>
              </a:rPr>
              <a:t>• Analyse listening behaviour using daily listening minutes.</a:t>
            </a:r>
          </a:p>
          <a:p>
            <a:r>
              <a:rPr lang="en-IN" sz="2400" dirty="0">
                <a:latin typeface="Times New Roman" panose="02020603050405020304" pitchFamily="18" charset="0"/>
                <a:cs typeface="Times New Roman" panose="02020603050405020304" pitchFamily="18" charset="0"/>
              </a:rPr>
              <a:t>• Create bar, pie, and line charts.</a:t>
            </a:r>
          </a:p>
          <a:p>
            <a:r>
              <a:rPr lang="en-IN" sz="2400" dirty="0">
                <a:latin typeface="Times New Roman" panose="02020603050405020304" pitchFamily="18" charset="0"/>
                <a:cs typeface="Times New Roman" panose="02020603050405020304" pitchFamily="18" charset="0"/>
              </a:rPr>
              <a:t>• Present the results as meaningful music-streaming insights.</a:t>
            </a:r>
          </a:p>
          <a:p>
            <a:pPr algn="l">
              <a:spcAft>
                <a:spcPts val="721"/>
              </a:spcAft>
              <a:defRPr sz="1900" b="0">
                <a:solidFill>
                  <a:srgbClr val="2D2D2D"/>
                </a:solidFill>
                <a:latin typeface="Aptos"/>
              </a:defRPr>
            </a:pPr>
            <a:endParaRPr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DB23935-0CC4-3F50-A535-D2DE87C270E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56600" y="1585808"/>
            <a:ext cx="5149215" cy="3432809"/>
          </a:xfrm>
          <a:prstGeom prst="rect">
            <a:avLst/>
          </a:prstGeom>
        </p:spPr>
      </p:pic>
    </p:spTree>
    <p:extLst>
      <p:ext uri="{BB962C8B-B14F-4D97-AF65-F5344CB8AC3E}">
        <p14:creationId xmlns:p14="http://schemas.microsoft.com/office/powerpoint/2010/main" val="709256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4944C-8816-A98A-BE5A-6A28E3D1316D}"/>
            </a:ext>
          </a:extLst>
        </p:cNvPr>
        <p:cNvGrpSpPr/>
        <p:nvPr/>
      </p:nvGrpSpPr>
      <p:grpSpPr>
        <a:xfrm>
          <a:off x="0" y="0"/>
          <a:ext cx="0" cy="0"/>
          <a:chOff x="0" y="0"/>
          <a:chExt cx="0" cy="0"/>
        </a:xfrm>
      </p:grpSpPr>
      <p:pic>
        <p:nvPicPr>
          <p:cNvPr id="17" name="object 3">
            <a:extLst>
              <a:ext uri="{FF2B5EF4-FFF2-40B4-BE49-F238E27FC236}">
                <a16:creationId xmlns:a16="http://schemas.microsoft.com/office/drawing/2014/main" id="{97977331-EA1C-CA44-869F-6C400FF95B93}"/>
              </a:ext>
            </a:extLst>
          </p:cNvPr>
          <p:cNvPicPr/>
          <p:nvPr/>
        </p:nvPicPr>
        <p:blipFill>
          <a:blip r:embed="rId2" cstate="print"/>
          <a:stretch>
            <a:fillRect/>
          </a:stretch>
        </p:blipFill>
        <p:spPr>
          <a:xfrm>
            <a:off x="355600" y="186100"/>
            <a:ext cx="1752600" cy="728300"/>
          </a:xfrm>
          <a:prstGeom prst="rect">
            <a:avLst/>
          </a:prstGeom>
        </p:spPr>
      </p:pic>
      <p:grpSp>
        <p:nvGrpSpPr>
          <p:cNvPr id="4" name="object 3">
            <a:extLst>
              <a:ext uri="{FF2B5EF4-FFF2-40B4-BE49-F238E27FC236}">
                <a16:creationId xmlns:a16="http://schemas.microsoft.com/office/drawing/2014/main" id="{493C539F-A86A-512C-CDC1-7D279B60EB1C}"/>
              </a:ext>
            </a:extLst>
          </p:cNvPr>
          <p:cNvGrpSpPr/>
          <p:nvPr/>
        </p:nvGrpSpPr>
        <p:grpSpPr>
          <a:xfrm>
            <a:off x="4475018" y="-30179"/>
            <a:ext cx="5258568" cy="1234623"/>
            <a:chOff x="2648188" y="47148"/>
            <a:chExt cx="5103904" cy="1198311"/>
          </a:xfrm>
        </p:grpSpPr>
        <p:pic>
          <p:nvPicPr>
            <p:cNvPr id="5" name="object 4">
              <a:extLst>
                <a:ext uri="{FF2B5EF4-FFF2-40B4-BE49-F238E27FC236}">
                  <a16:creationId xmlns:a16="http://schemas.microsoft.com/office/drawing/2014/main" id="{5EF4257B-2B43-17B3-FF4F-1187B669162A}"/>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C6F1369C-4970-FF55-E67B-BCF08160A62A}"/>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CF69E22F-BC21-03E7-F9F3-42AA69CA9E92}"/>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470ED999-51AF-0BD8-F3EE-37C965CA5C3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8" name="TextBox 17"/>
          <p:cNvSpPr txBox="1"/>
          <p:nvPr/>
        </p:nvSpPr>
        <p:spPr>
          <a:xfrm>
            <a:off x="4531693" y="177409"/>
            <a:ext cx="5275811" cy="454581"/>
          </a:xfrm>
          <a:prstGeom prst="rect">
            <a:avLst/>
          </a:prstGeom>
          <a:noFill/>
        </p:spPr>
        <p:txBody>
          <a:bodyPr wrap="square">
            <a:spAutoFit/>
          </a:bodyPr>
          <a:lstStyle/>
          <a:p>
            <a:pPr algn="ctr">
              <a:spcAft>
                <a:spcPts val="721"/>
              </a:spcAft>
              <a:defRPr sz="2200" b="1">
                <a:solidFill>
                  <a:srgbClr val="233464"/>
                </a:solidFill>
                <a:latin typeface="Aptos"/>
              </a:defRPr>
            </a:pPr>
            <a:r>
              <a:rPr sz="2267" dirty="0">
                <a:solidFill>
                  <a:schemeClr val="bg1"/>
                </a:solidFill>
                <a:latin typeface="Times New Roman" pitchFamily="18" charset="0"/>
                <a:cs typeface="Times New Roman" pitchFamily="18" charset="0"/>
              </a:rPr>
              <a:t>DATASET DESCRIPTION</a:t>
            </a:r>
          </a:p>
        </p:txBody>
      </p:sp>
      <p:sp>
        <p:nvSpPr>
          <p:cNvPr id="19" name="TextBox 18"/>
          <p:cNvSpPr txBox="1"/>
          <p:nvPr/>
        </p:nvSpPr>
        <p:spPr>
          <a:xfrm>
            <a:off x="1443026" y="1032093"/>
            <a:ext cx="8290560" cy="637097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Dataset: Music Streaming Habits 2026</a:t>
            </a:r>
          </a:p>
          <a:p>
            <a:r>
              <a:rPr lang="en-IN" sz="2400" b="1" dirty="0">
                <a:latin typeface="Times New Roman" panose="02020603050405020304" pitchFamily="18" charset="0"/>
                <a:cs typeface="Times New Roman" panose="02020603050405020304" pitchFamily="18" charset="0"/>
              </a:rPr>
              <a:t>Source: Kaggle</a:t>
            </a:r>
          </a:p>
          <a:p>
            <a:r>
              <a:rPr lang="en-IN" sz="2400" dirty="0">
                <a:latin typeface="Times New Roman" panose="02020603050405020304" pitchFamily="18" charset="0"/>
                <a:cs typeface="Times New Roman" panose="02020603050405020304" pitchFamily="18" charset="0"/>
              </a:rPr>
              <a:t>• Contains approximately 4,000 listener records.</a:t>
            </a:r>
          </a:p>
          <a:p>
            <a:r>
              <a:rPr lang="en-IN" sz="2400" dirty="0">
                <a:latin typeface="Times New Roman" panose="02020603050405020304" pitchFamily="18" charset="0"/>
                <a:cs typeface="Times New Roman" panose="02020603050405020304" pitchFamily="18" charset="0"/>
              </a:rPr>
              <a:t>• Contains approximately 15 attributes.</a:t>
            </a:r>
          </a:p>
          <a:p>
            <a:r>
              <a:rPr lang="en-IN" sz="2400" b="1" dirty="0">
                <a:latin typeface="Times New Roman" panose="02020603050405020304" pitchFamily="18" charset="0"/>
                <a:cs typeface="Times New Roman" panose="02020603050405020304" pitchFamily="18" charset="0"/>
              </a:rPr>
              <a:t>Important attributes:</a:t>
            </a:r>
          </a:p>
          <a:p>
            <a:r>
              <a:rPr lang="en-IN" sz="2400" dirty="0">
                <a:latin typeface="Times New Roman" panose="02020603050405020304" pitchFamily="18" charset="0"/>
                <a:cs typeface="Times New Roman" panose="02020603050405020304" pitchFamily="18" charset="0"/>
              </a:rPr>
              <a:t>• Age</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Country</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Platform</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Subscription</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Top Genre</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Top Artist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Daily Listening Minutes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Songs Per Day</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Skip Rate Percentage</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Mood</a:t>
            </a:r>
          </a:p>
          <a:p>
            <a:r>
              <a:rPr lang="en-IN" sz="2400" dirty="0">
                <a:latin typeface="Times New Roman" panose="02020603050405020304" pitchFamily="18" charset="0"/>
                <a:cs typeface="Times New Roman" panose="02020603050405020304" pitchFamily="18" charset="0"/>
              </a:rPr>
              <a:t>• The dataset contains both numerical and categorical data. </a:t>
            </a:r>
          </a:p>
          <a:p>
            <a:pPr algn="ctr">
              <a:spcAft>
                <a:spcPts val="721"/>
              </a:spcAft>
              <a:defRPr sz="1900" b="1">
                <a:solidFill>
                  <a:srgbClr val="233464"/>
                </a:solidFill>
                <a:latin typeface="Aptos"/>
              </a:defRPr>
            </a:pPr>
            <a:endParaRPr sz="2400" dirty="0">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35103787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4632036" y="-63545"/>
            <a:ext cx="5258568" cy="1234623"/>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431800" y="138807"/>
            <a:ext cx="1752600" cy="851793"/>
          </a:xfrm>
          <a:prstGeom prst="rect">
            <a:avLst/>
          </a:prstGeom>
        </p:spPr>
      </p:pic>
      <p:sp>
        <p:nvSpPr>
          <p:cNvPr id="18" name="TextBox 17"/>
          <p:cNvSpPr txBox="1"/>
          <p:nvPr/>
        </p:nvSpPr>
        <p:spPr>
          <a:xfrm>
            <a:off x="4553528" y="146029"/>
            <a:ext cx="5275811" cy="454581"/>
          </a:xfrm>
          <a:prstGeom prst="rect">
            <a:avLst/>
          </a:prstGeom>
          <a:noFill/>
        </p:spPr>
        <p:txBody>
          <a:bodyPr wrap="square">
            <a:spAutoFit/>
          </a:bodyPr>
          <a:lstStyle/>
          <a:p>
            <a:pPr algn="ctr">
              <a:spcAft>
                <a:spcPts val="721"/>
              </a:spcAft>
              <a:defRPr sz="2200" b="1">
                <a:solidFill>
                  <a:srgbClr val="233464"/>
                </a:solidFill>
                <a:latin typeface="Aptos"/>
              </a:defRPr>
            </a:pPr>
            <a:r>
              <a:rPr sz="2267" dirty="0">
                <a:solidFill>
                  <a:schemeClr val="bg1"/>
                </a:solidFill>
                <a:latin typeface="Times New Roman" pitchFamily="18" charset="0"/>
                <a:cs typeface="Times New Roman" pitchFamily="18" charset="0"/>
              </a:rPr>
              <a:t>REQUIREMENTS</a:t>
            </a:r>
          </a:p>
        </p:txBody>
      </p:sp>
      <p:sp>
        <p:nvSpPr>
          <p:cNvPr id="2" name="TextBox 1">
            <a:extLst>
              <a:ext uri="{FF2B5EF4-FFF2-40B4-BE49-F238E27FC236}">
                <a16:creationId xmlns:a16="http://schemas.microsoft.com/office/drawing/2014/main" id="{BD68D354-8AA5-AFA7-247E-1DFCACEA888F}"/>
              </a:ext>
            </a:extLst>
          </p:cNvPr>
          <p:cNvSpPr txBox="1"/>
          <p:nvPr/>
        </p:nvSpPr>
        <p:spPr>
          <a:xfrm>
            <a:off x="1402196" y="1524690"/>
            <a:ext cx="6945453" cy="5139869"/>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Hardware Requirements</a:t>
            </a:r>
          </a:p>
          <a:p>
            <a:r>
              <a:rPr lang="en-IN" sz="2400" dirty="0">
                <a:latin typeface="Times New Roman" panose="02020603050405020304" pitchFamily="18" charset="0"/>
                <a:cs typeface="Times New Roman" panose="02020603050405020304" pitchFamily="18" charset="0"/>
              </a:rPr>
              <a:t>• Processor: Intel i3 or above</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RAM: Minimum 4 GB</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Storage: 20 GB</a:t>
            </a: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r>
              <a:rPr lang="en-IN" sz="3200" b="1" dirty="0">
                <a:latin typeface="Times New Roman" panose="02020603050405020304" pitchFamily="18" charset="0"/>
                <a:cs typeface="Times New Roman" panose="02020603050405020304" pitchFamily="18" charset="0"/>
              </a:rPr>
              <a:t>Software Requirements</a:t>
            </a:r>
          </a:p>
          <a:p>
            <a:r>
              <a:rPr lang="en-IN" sz="2400" dirty="0">
                <a:latin typeface="Times New Roman" panose="02020603050405020304" pitchFamily="18" charset="0"/>
                <a:cs typeface="Times New Roman" panose="02020603050405020304" pitchFamily="18" charset="0"/>
              </a:rPr>
              <a:t>• Windows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Python</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Jupyter Notebook / Google </a:t>
            </a:r>
            <a:r>
              <a:rPr lang="en-IN" sz="2400" dirty="0" err="1">
                <a:latin typeface="Times New Roman" panose="02020603050405020304" pitchFamily="18" charset="0"/>
                <a:cs typeface="Times New Roman" panose="02020603050405020304" pitchFamily="18" charset="0"/>
              </a:rPr>
              <a:t>Colab</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Pandas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Matplotlib</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2052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E778C-EF45-B70B-5722-F07EA88B963E}"/>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34CD2554-0F76-C9B0-FF14-7F4D80BD8619}"/>
              </a:ext>
            </a:extLst>
          </p:cNvPr>
          <p:cNvGrpSpPr/>
          <p:nvPr/>
        </p:nvGrpSpPr>
        <p:grpSpPr>
          <a:xfrm>
            <a:off x="4396509" y="48218"/>
            <a:ext cx="5258568" cy="1234623"/>
            <a:chOff x="2648188" y="47148"/>
            <a:chExt cx="5103904" cy="1198311"/>
          </a:xfrm>
        </p:grpSpPr>
        <p:pic>
          <p:nvPicPr>
            <p:cNvPr id="6" name="object 4">
              <a:extLst>
                <a:ext uri="{FF2B5EF4-FFF2-40B4-BE49-F238E27FC236}">
                  <a16:creationId xmlns:a16="http://schemas.microsoft.com/office/drawing/2014/main" id="{36FBCCDA-46D7-E478-FC1A-C2F57A0BE714}"/>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31257B05-D4F1-16FB-D957-A198574814E2}"/>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C3190215-6BD3-2A4A-2213-B577273D304E}"/>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83A755D1-1457-8374-938A-78E8AB117C0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2061"/>
            </a:p>
          </p:txBody>
        </p:sp>
      </p:grpSp>
      <p:pic>
        <p:nvPicPr>
          <p:cNvPr id="11" name="object 3">
            <a:extLst>
              <a:ext uri="{FF2B5EF4-FFF2-40B4-BE49-F238E27FC236}">
                <a16:creationId xmlns:a16="http://schemas.microsoft.com/office/drawing/2014/main" id="{72B6B806-42BE-77DF-192B-89F31F209201}"/>
              </a:ext>
            </a:extLst>
          </p:cNvPr>
          <p:cNvPicPr/>
          <p:nvPr/>
        </p:nvPicPr>
        <p:blipFill>
          <a:blip r:embed="rId6" cstate="print"/>
          <a:stretch>
            <a:fillRect/>
          </a:stretch>
        </p:blipFill>
        <p:spPr>
          <a:xfrm>
            <a:off x="264640" y="212684"/>
            <a:ext cx="1767359" cy="777916"/>
          </a:xfrm>
          <a:prstGeom prst="rect">
            <a:avLst/>
          </a:prstGeom>
        </p:spPr>
      </p:pic>
      <p:sp>
        <p:nvSpPr>
          <p:cNvPr id="12" name="TextBox 11">
            <a:extLst>
              <a:ext uri="{FF2B5EF4-FFF2-40B4-BE49-F238E27FC236}">
                <a16:creationId xmlns:a16="http://schemas.microsoft.com/office/drawing/2014/main" id="{4AA779C3-D14D-B5CA-4047-DAA869095549}"/>
              </a:ext>
            </a:extLst>
          </p:cNvPr>
          <p:cNvSpPr txBox="1"/>
          <p:nvPr/>
        </p:nvSpPr>
        <p:spPr>
          <a:xfrm>
            <a:off x="4215205" y="332945"/>
            <a:ext cx="5275811" cy="421879"/>
          </a:xfrm>
          <a:prstGeom prst="rect">
            <a:avLst/>
          </a:prstGeom>
          <a:noFill/>
        </p:spPr>
        <p:txBody>
          <a:bodyPr wrap="square">
            <a:spAutoFit/>
          </a:bodyPr>
          <a:lstStyle/>
          <a:p>
            <a:pPr algn="ctr">
              <a:spcAft>
                <a:spcPts val="721"/>
              </a:spcAft>
              <a:defRPr sz="2200" b="1">
                <a:solidFill>
                  <a:srgbClr val="233464"/>
                </a:solidFill>
                <a:latin typeface="Aptos"/>
              </a:defRPr>
            </a:pPr>
            <a:r>
              <a:rPr sz="2061" dirty="0">
                <a:solidFill>
                  <a:schemeClr val="bg1"/>
                </a:solidFill>
                <a:latin typeface="Times New Roman" pitchFamily="18" charset="0"/>
                <a:cs typeface="Times New Roman" pitchFamily="18" charset="0"/>
              </a:rPr>
              <a:t>METHODOLOGY</a:t>
            </a:r>
          </a:p>
        </p:txBody>
      </p:sp>
      <p:sp>
        <p:nvSpPr>
          <p:cNvPr id="2" name="TextBox 1">
            <a:extLst>
              <a:ext uri="{FF2B5EF4-FFF2-40B4-BE49-F238E27FC236}">
                <a16:creationId xmlns:a16="http://schemas.microsoft.com/office/drawing/2014/main" id="{D703403B-BCF8-A4DB-65BA-01B88B81A342}"/>
              </a:ext>
            </a:extLst>
          </p:cNvPr>
          <p:cNvSpPr txBox="1"/>
          <p:nvPr/>
        </p:nvSpPr>
        <p:spPr>
          <a:xfrm>
            <a:off x="1046377" y="1197674"/>
            <a:ext cx="8637198" cy="3785652"/>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Module 1 – Dataset Loading</a:t>
            </a:r>
          </a:p>
          <a:p>
            <a:pPr lvl="0"/>
            <a:r>
              <a:rPr lang="en-IN" sz="2400" dirty="0">
                <a:latin typeface="Times New Roman" panose="02020603050405020304" pitchFamily="18" charset="0"/>
                <a:cs typeface="Times New Roman" panose="02020603050405020304" pitchFamily="18" charset="0"/>
              </a:rPr>
              <a:t>Import required Python libraries. </a:t>
            </a:r>
          </a:p>
          <a:p>
            <a:pPr lvl="0"/>
            <a:r>
              <a:rPr lang="en-IN" sz="2400" dirty="0">
                <a:latin typeface="Times New Roman" panose="02020603050405020304" pitchFamily="18" charset="0"/>
                <a:cs typeface="Times New Roman" panose="02020603050405020304" pitchFamily="18" charset="0"/>
              </a:rPr>
              <a:t>Load the CSV dataset using Pandas.</a:t>
            </a:r>
          </a:p>
          <a:p>
            <a:pPr lvl="0"/>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Module 2 – Data Exploration</a:t>
            </a:r>
          </a:p>
          <a:p>
            <a:pPr lvl="0"/>
            <a:r>
              <a:rPr lang="en-IN" sz="2400" dirty="0">
                <a:latin typeface="Times New Roman" panose="02020603050405020304" pitchFamily="18" charset="0"/>
                <a:cs typeface="Times New Roman" panose="02020603050405020304" pitchFamily="18" charset="0"/>
              </a:rPr>
              <a:t>Examine the dataset structure. </a:t>
            </a:r>
          </a:p>
          <a:p>
            <a:pPr lvl="0"/>
            <a:r>
              <a:rPr lang="en-IN" sz="2400" dirty="0">
                <a:latin typeface="Times New Roman" panose="02020603050405020304" pitchFamily="18" charset="0"/>
                <a:cs typeface="Times New Roman" panose="02020603050405020304" pitchFamily="18" charset="0"/>
              </a:rPr>
              <a:t>Display sample records. </a:t>
            </a:r>
          </a:p>
          <a:p>
            <a:pPr lvl="0"/>
            <a:r>
              <a:rPr lang="en-IN" sz="2400" dirty="0">
                <a:latin typeface="Times New Roman" panose="02020603050405020304" pitchFamily="18" charset="0"/>
                <a:cs typeface="Times New Roman" panose="02020603050405020304" pitchFamily="18" charset="0"/>
              </a:rPr>
              <a:t>Identify important attributes.</a:t>
            </a:r>
          </a:p>
          <a:p>
            <a:pPr lvl="0"/>
            <a:endParaRPr lang="en-IN" sz="2400" dirty="0">
              <a:latin typeface="Times New Roman" panose="02020603050405020304" pitchFamily="18" charset="0"/>
              <a:cs typeface="Times New Roman" panose="02020603050405020304" pitchFamily="18" charset="0"/>
            </a:endParaRPr>
          </a:p>
          <a:p>
            <a:pPr lvl="0"/>
            <a:r>
              <a:rPr lang="en-IN" sz="2400" b="1" dirty="0">
                <a:latin typeface="Times New Roman" panose="02020603050405020304" pitchFamily="18" charset="0"/>
                <a:cs typeface="Times New Roman" panose="02020603050405020304" pitchFamily="18" charset="0"/>
              </a:rPr>
              <a:t>Code:</a:t>
            </a:r>
          </a:p>
        </p:txBody>
      </p:sp>
      <p:pic>
        <p:nvPicPr>
          <p:cNvPr id="13" name="Picture 12">
            <a:extLst>
              <a:ext uri="{FF2B5EF4-FFF2-40B4-BE49-F238E27FC236}">
                <a16:creationId xmlns:a16="http://schemas.microsoft.com/office/drawing/2014/main" id="{0587894C-88EE-D3CC-CA6D-F7C587937C1E}"/>
              </a:ext>
            </a:extLst>
          </p:cNvPr>
          <p:cNvPicPr>
            <a:picLocks noChangeAspect="1"/>
          </p:cNvPicPr>
          <p:nvPr/>
        </p:nvPicPr>
        <p:blipFill>
          <a:blip r:embed="rId7"/>
          <a:stretch>
            <a:fillRect/>
          </a:stretch>
        </p:blipFill>
        <p:spPr>
          <a:xfrm>
            <a:off x="1065582" y="5029200"/>
            <a:ext cx="6888105" cy="1623059"/>
          </a:xfrm>
          <a:prstGeom prst="rect">
            <a:avLst/>
          </a:prstGeom>
        </p:spPr>
      </p:pic>
    </p:spTree>
    <p:extLst>
      <p:ext uri="{BB962C8B-B14F-4D97-AF65-F5344CB8AC3E}">
        <p14:creationId xmlns:p14="http://schemas.microsoft.com/office/powerpoint/2010/main" val="206873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26465-3ADC-5951-39CE-92EC158F4CFB}"/>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60BA8D2-567B-0E20-D855-A04081AB70C5}"/>
              </a:ext>
            </a:extLst>
          </p:cNvPr>
          <p:cNvGrpSpPr/>
          <p:nvPr/>
        </p:nvGrpSpPr>
        <p:grpSpPr>
          <a:xfrm>
            <a:off x="4396509" y="48218"/>
            <a:ext cx="5258568" cy="1234623"/>
            <a:chOff x="2648188" y="47148"/>
            <a:chExt cx="5103904" cy="1198311"/>
          </a:xfrm>
        </p:grpSpPr>
        <p:pic>
          <p:nvPicPr>
            <p:cNvPr id="6" name="object 4">
              <a:extLst>
                <a:ext uri="{FF2B5EF4-FFF2-40B4-BE49-F238E27FC236}">
                  <a16:creationId xmlns:a16="http://schemas.microsoft.com/office/drawing/2014/main" id="{E9E2960E-71AF-9F14-E5DA-9A9B88DC75E2}"/>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6EB2B2A1-6CDE-961F-43AB-513B683F558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44411E19-1E40-302F-1C2F-E211D259EAEC}"/>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29F5D546-2796-E03D-A78D-C8429FB05EB0}"/>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2061"/>
            </a:p>
          </p:txBody>
        </p:sp>
      </p:grpSp>
      <p:pic>
        <p:nvPicPr>
          <p:cNvPr id="11" name="object 3">
            <a:extLst>
              <a:ext uri="{FF2B5EF4-FFF2-40B4-BE49-F238E27FC236}">
                <a16:creationId xmlns:a16="http://schemas.microsoft.com/office/drawing/2014/main" id="{46BEC79B-4F0F-B209-57EB-8F81D4FB5317}"/>
              </a:ext>
            </a:extLst>
          </p:cNvPr>
          <p:cNvPicPr/>
          <p:nvPr/>
        </p:nvPicPr>
        <p:blipFill>
          <a:blip r:embed="rId6" cstate="print"/>
          <a:stretch>
            <a:fillRect/>
          </a:stretch>
        </p:blipFill>
        <p:spPr>
          <a:xfrm>
            <a:off x="264640" y="212684"/>
            <a:ext cx="1767359" cy="777916"/>
          </a:xfrm>
          <a:prstGeom prst="rect">
            <a:avLst/>
          </a:prstGeom>
        </p:spPr>
      </p:pic>
      <p:sp>
        <p:nvSpPr>
          <p:cNvPr id="12" name="TextBox 11">
            <a:extLst>
              <a:ext uri="{FF2B5EF4-FFF2-40B4-BE49-F238E27FC236}">
                <a16:creationId xmlns:a16="http://schemas.microsoft.com/office/drawing/2014/main" id="{1D028536-2BC2-EEB9-4400-CECC82DF1667}"/>
              </a:ext>
            </a:extLst>
          </p:cNvPr>
          <p:cNvSpPr txBox="1"/>
          <p:nvPr/>
        </p:nvSpPr>
        <p:spPr>
          <a:xfrm>
            <a:off x="4215205" y="332945"/>
            <a:ext cx="5275811" cy="421879"/>
          </a:xfrm>
          <a:prstGeom prst="rect">
            <a:avLst/>
          </a:prstGeom>
          <a:noFill/>
        </p:spPr>
        <p:txBody>
          <a:bodyPr wrap="square">
            <a:spAutoFit/>
          </a:bodyPr>
          <a:lstStyle/>
          <a:p>
            <a:pPr algn="ctr">
              <a:spcAft>
                <a:spcPts val="721"/>
              </a:spcAft>
              <a:defRPr sz="2200" b="1">
                <a:solidFill>
                  <a:srgbClr val="233464"/>
                </a:solidFill>
                <a:latin typeface="Aptos"/>
              </a:defRPr>
            </a:pPr>
            <a:r>
              <a:rPr sz="2061" dirty="0">
                <a:solidFill>
                  <a:schemeClr val="bg1"/>
                </a:solidFill>
                <a:latin typeface="Times New Roman" pitchFamily="18" charset="0"/>
                <a:cs typeface="Times New Roman" pitchFamily="18" charset="0"/>
              </a:rPr>
              <a:t>METHODOLOGY</a:t>
            </a:r>
          </a:p>
        </p:txBody>
      </p:sp>
      <p:pic>
        <p:nvPicPr>
          <p:cNvPr id="13" name="Picture 12">
            <a:extLst>
              <a:ext uri="{FF2B5EF4-FFF2-40B4-BE49-F238E27FC236}">
                <a16:creationId xmlns:a16="http://schemas.microsoft.com/office/drawing/2014/main" id="{35B92C01-45ED-3D67-66D6-4A1B3E156AE0}"/>
              </a:ext>
            </a:extLst>
          </p:cNvPr>
          <p:cNvPicPr>
            <a:picLocks noChangeAspect="1"/>
          </p:cNvPicPr>
          <p:nvPr/>
        </p:nvPicPr>
        <p:blipFill>
          <a:blip r:embed="rId7"/>
          <a:stretch>
            <a:fillRect/>
          </a:stretch>
        </p:blipFill>
        <p:spPr>
          <a:xfrm>
            <a:off x="1145221" y="1905000"/>
            <a:ext cx="10550081" cy="4648200"/>
          </a:xfrm>
          <a:prstGeom prst="rect">
            <a:avLst/>
          </a:prstGeom>
        </p:spPr>
      </p:pic>
      <p:sp>
        <p:nvSpPr>
          <p:cNvPr id="14" name="TextBox 13">
            <a:extLst>
              <a:ext uri="{FF2B5EF4-FFF2-40B4-BE49-F238E27FC236}">
                <a16:creationId xmlns:a16="http://schemas.microsoft.com/office/drawing/2014/main" id="{D8FC563A-4268-BE8E-323E-B276BCC1BE3B}"/>
              </a:ext>
            </a:extLst>
          </p:cNvPr>
          <p:cNvSpPr txBox="1"/>
          <p:nvPr/>
        </p:nvSpPr>
        <p:spPr>
          <a:xfrm>
            <a:off x="1116104" y="1331267"/>
            <a:ext cx="1276311" cy="461665"/>
          </a:xfrm>
          <a:prstGeom prst="rect">
            <a:avLst/>
          </a:prstGeom>
          <a:noFill/>
        </p:spPr>
        <p:txBody>
          <a:bodyPr wrap="none" rtlCol="0">
            <a:spAutoFit/>
          </a:bodyPr>
          <a:lstStyle/>
          <a:p>
            <a:r>
              <a:rPr lang="en-IN" sz="2400" b="1" dirty="0"/>
              <a:t>Output</a:t>
            </a:r>
            <a:r>
              <a:rPr lang="en-IN" sz="2400" dirty="0"/>
              <a:t>:</a:t>
            </a:r>
          </a:p>
        </p:txBody>
      </p:sp>
    </p:spTree>
    <p:extLst>
      <p:ext uri="{BB962C8B-B14F-4D97-AF65-F5344CB8AC3E}">
        <p14:creationId xmlns:p14="http://schemas.microsoft.com/office/powerpoint/2010/main" val="41396569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BDD82-1D5F-BBE1-492E-1EE60FA9F1C3}"/>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9FAD1BB1-D37E-3E97-5F3A-3685CE14D68B}"/>
              </a:ext>
            </a:extLst>
          </p:cNvPr>
          <p:cNvGrpSpPr/>
          <p:nvPr/>
        </p:nvGrpSpPr>
        <p:grpSpPr>
          <a:xfrm>
            <a:off x="4396509" y="48218"/>
            <a:ext cx="5258568" cy="1234623"/>
            <a:chOff x="2648188" y="47148"/>
            <a:chExt cx="5103904" cy="1198311"/>
          </a:xfrm>
        </p:grpSpPr>
        <p:pic>
          <p:nvPicPr>
            <p:cNvPr id="6" name="object 4">
              <a:extLst>
                <a:ext uri="{FF2B5EF4-FFF2-40B4-BE49-F238E27FC236}">
                  <a16:creationId xmlns:a16="http://schemas.microsoft.com/office/drawing/2014/main" id="{7D28528A-CDEE-662C-65FE-AFA43E5C819E}"/>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555CE704-8F04-B4A0-B018-31CEC20C5497}"/>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E13561F7-7495-E086-FEBC-18E0233F5CAF}"/>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CD2E1952-319D-3882-25FD-8F7800ACECF4}"/>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2061"/>
            </a:p>
          </p:txBody>
        </p:sp>
      </p:grpSp>
      <p:pic>
        <p:nvPicPr>
          <p:cNvPr id="11" name="object 3">
            <a:extLst>
              <a:ext uri="{FF2B5EF4-FFF2-40B4-BE49-F238E27FC236}">
                <a16:creationId xmlns:a16="http://schemas.microsoft.com/office/drawing/2014/main" id="{39F17B28-E138-7700-B4AA-4064759221C6}"/>
              </a:ext>
            </a:extLst>
          </p:cNvPr>
          <p:cNvPicPr/>
          <p:nvPr/>
        </p:nvPicPr>
        <p:blipFill>
          <a:blip r:embed="rId6" cstate="print"/>
          <a:stretch>
            <a:fillRect/>
          </a:stretch>
        </p:blipFill>
        <p:spPr>
          <a:xfrm>
            <a:off x="264640" y="212684"/>
            <a:ext cx="1767359" cy="777916"/>
          </a:xfrm>
          <a:prstGeom prst="rect">
            <a:avLst/>
          </a:prstGeom>
        </p:spPr>
      </p:pic>
      <p:sp>
        <p:nvSpPr>
          <p:cNvPr id="12" name="TextBox 11">
            <a:extLst>
              <a:ext uri="{FF2B5EF4-FFF2-40B4-BE49-F238E27FC236}">
                <a16:creationId xmlns:a16="http://schemas.microsoft.com/office/drawing/2014/main" id="{6DAC6B0D-42D9-C5E7-2685-1C66507B5F0E}"/>
              </a:ext>
            </a:extLst>
          </p:cNvPr>
          <p:cNvSpPr txBox="1"/>
          <p:nvPr/>
        </p:nvSpPr>
        <p:spPr>
          <a:xfrm>
            <a:off x="4215205" y="332945"/>
            <a:ext cx="5275811" cy="421879"/>
          </a:xfrm>
          <a:prstGeom prst="rect">
            <a:avLst/>
          </a:prstGeom>
          <a:noFill/>
        </p:spPr>
        <p:txBody>
          <a:bodyPr wrap="square">
            <a:spAutoFit/>
          </a:bodyPr>
          <a:lstStyle/>
          <a:p>
            <a:pPr algn="ctr">
              <a:spcAft>
                <a:spcPts val="721"/>
              </a:spcAft>
              <a:defRPr sz="2200" b="1">
                <a:solidFill>
                  <a:srgbClr val="233464"/>
                </a:solidFill>
                <a:latin typeface="Aptos"/>
              </a:defRPr>
            </a:pPr>
            <a:r>
              <a:rPr sz="2061" dirty="0">
                <a:solidFill>
                  <a:schemeClr val="bg1"/>
                </a:solidFill>
                <a:latin typeface="Times New Roman" pitchFamily="18" charset="0"/>
                <a:cs typeface="Times New Roman" pitchFamily="18" charset="0"/>
              </a:rPr>
              <a:t>METHODOLOGY</a:t>
            </a:r>
          </a:p>
        </p:txBody>
      </p:sp>
      <p:sp>
        <p:nvSpPr>
          <p:cNvPr id="14" name="TextBox 13">
            <a:extLst>
              <a:ext uri="{FF2B5EF4-FFF2-40B4-BE49-F238E27FC236}">
                <a16:creationId xmlns:a16="http://schemas.microsoft.com/office/drawing/2014/main" id="{AE0E9C52-86A9-5670-31C0-0DA698B548F5}"/>
              </a:ext>
            </a:extLst>
          </p:cNvPr>
          <p:cNvSpPr txBox="1"/>
          <p:nvPr/>
        </p:nvSpPr>
        <p:spPr>
          <a:xfrm>
            <a:off x="1041400" y="1993374"/>
            <a:ext cx="9755096" cy="2308324"/>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Module 3 – Data Cleaning</a:t>
            </a:r>
          </a:p>
          <a:p>
            <a:pPr lvl="0"/>
            <a:r>
              <a:rPr lang="en-IN" sz="2400" dirty="0">
                <a:latin typeface="Times New Roman" panose="02020603050405020304" pitchFamily="18" charset="0"/>
                <a:cs typeface="Times New Roman" panose="02020603050405020304" pitchFamily="18" charset="0"/>
              </a:rPr>
              <a:t>Check missing values. </a:t>
            </a:r>
          </a:p>
          <a:p>
            <a:pPr lvl="0"/>
            <a:r>
              <a:rPr lang="en-IN" sz="2400" dirty="0">
                <a:latin typeface="Times New Roman" panose="02020603050405020304" pitchFamily="18" charset="0"/>
                <a:cs typeface="Times New Roman" panose="02020603050405020304" pitchFamily="18" charset="0"/>
              </a:rPr>
              <a:t>Check duplicate records. </a:t>
            </a:r>
          </a:p>
          <a:p>
            <a:pPr lvl="0"/>
            <a:r>
              <a:rPr lang="en-IN" sz="2400" dirty="0">
                <a:latin typeface="Times New Roman" panose="02020603050405020304" pitchFamily="18" charset="0"/>
                <a:cs typeface="Times New Roman" panose="02020603050405020304" pitchFamily="18" charset="0"/>
              </a:rPr>
              <a:t>Remove duplicates if required.</a:t>
            </a:r>
          </a:p>
          <a:p>
            <a:pPr lvl="0"/>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Code:</a:t>
            </a:r>
          </a:p>
        </p:txBody>
      </p:sp>
      <p:pic>
        <p:nvPicPr>
          <p:cNvPr id="4" name="Picture 3">
            <a:extLst>
              <a:ext uri="{FF2B5EF4-FFF2-40B4-BE49-F238E27FC236}">
                <a16:creationId xmlns:a16="http://schemas.microsoft.com/office/drawing/2014/main" id="{3B8EB8DF-CEE5-7B02-B88D-938B533CC151}"/>
              </a:ext>
            </a:extLst>
          </p:cNvPr>
          <p:cNvPicPr>
            <a:picLocks noChangeAspect="1"/>
          </p:cNvPicPr>
          <p:nvPr/>
        </p:nvPicPr>
        <p:blipFill>
          <a:blip r:embed="rId7"/>
          <a:stretch>
            <a:fillRect/>
          </a:stretch>
        </p:blipFill>
        <p:spPr>
          <a:xfrm>
            <a:off x="6651442" y="2216852"/>
            <a:ext cx="5953009" cy="4266532"/>
          </a:xfrm>
          <a:prstGeom prst="rect">
            <a:avLst/>
          </a:prstGeom>
        </p:spPr>
      </p:pic>
      <p:sp>
        <p:nvSpPr>
          <p:cNvPr id="10" name="TextBox 9">
            <a:extLst>
              <a:ext uri="{FF2B5EF4-FFF2-40B4-BE49-F238E27FC236}">
                <a16:creationId xmlns:a16="http://schemas.microsoft.com/office/drawing/2014/main" id="{9AFF55CF-7F2E-51C8-3F52-BF1FC0BF55D4}"/>
              </a:ext>
            </a:extLst>
          </p:cNvPr>
          <p:cNvSpPr txBox="1"/>
          <p:nvPr/>
        </p:nvSpPr>
        <p:spPr>
          <a:xfrm>
            <a:off x="6651442" y="1823950"/>
            <a:ext cx="1255472" cy="461665"/>
          </a:xfrm>
          <a:prstGeom prst="rect">
            <a:avLst/>
          </a:prstGeom>
          <a:noFill/>
        </p:spPr>
        <p:txBody>
          <a:bodyPr wrap="none" rtlCol="0">
            <a:spAutoFit/>
          </a:bodyPr>
          <a:lstStyle/>
          <a:p>
            <a:r>
              <a:rPr lang="en-IN" sz="2400" b="1" dirty="0"/>
              <a:t>Output</a:t>
            </a:r>
            <a:r>
              <a:rPr lang="en-IN" dirty="0"/>
              <a:t>:</a:t>
            </a:r>
          </a:p>
        </p:txBody>
      </p:sp>
      <p:pic>
        <p:nvPicPr>
          <p:cNvPr id="17" name="Picture 16">
            <a:extLst>
              <a:ext uri="{FF2B5EF4-FFF2-40B4-BE49-F238E27FC236}">
                <a16:creationId xmlns:a16="http://schemas.microsoft.com/office/drawing/2014/main" id="{497A8D39-D674-7CE1-F114-D3EB533D88D8}"/>
              </a:ext>
            </a:extLst>
          </p:cNvPr>
          <p:cNvPicPr>
            <a:picLocks noChangeAspect="1"/>
          </p:cNvPicPr>
          <p:nvPr/>
        </p:nvPicPr>
        <p:blipFill>
          <a:blip r:embed="rId8"/>
          <a:stretch>
            <a:fillRect/>
          </a:stretch>
        </p:blipFill>
        <p:spPr>
          <a:xfrm>
            <a:off x="1030868" y="4312849"/>
            <a:ext cx="4810009" cy="1618321"/>
          </a:xfrm>
          <a:prstGeom prst="rect">
            <a:avLst/>
          </a:prstGeom>
        </p:spPr>
      </p:pic>
    </p:spTree>
    <p:extLst>
      <p:ext uri="{BB962C8B-B14F-4D97-AF65-F5344CB8AC3E}">
        <p14:creationId xmlns:p14="http://schemas.microsoft.com/office/powerpoint/2010/main" val="787977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BE1A7-3004-3B9A-3BDF-6F0CD676F78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8C6D514-1AF0-EDB1-7078-687065ECF56B}"/>
              </a:ext>
            </a:extLst>
          </p:cNvPr>
          <p:cNvSpPr txBox="1"/>
          <p:nvPr/>
        </p:nvSpPr>
        <p:spPr>
          <a:xfrm>
            <a:off x="4215205" y="332945"/>
            <a:ext cx="5275811" cy="421879"/>
          </a:xfrm>
          <a:prstGeom prst="rect">
            <a:avLst/>
          </a:prstGeom>
          <a:noFill/>
        </p:spPr>
        <p:txBody>
          <a:bodyPr wrap="square">
            <a:spAutoFit/>
          </a:bodyPr>
          <a:lstStyle/>
          <a:p>
            <a:pPr algn="ctr">
              <a:spcAft>
                <a:spcPts val="721"/>
              </a:spcAft>
              <a:defRPr sz="2200" b="1">
                <a:solidFill>
                  <a:srgbClr val="233464"/>
                </a:solidFill>
                <a:latin typeface="Aptos"/>
              </a:defRPr>
            </a:pPr>
            <a:r>
              <a:rPr sz="2061" dirty="0">
                <a:solidFill>
                  <a:schemeClr val="bg1"/>
                </a:solidFill>
                <a:latin typeface="Times New Roman" pitchFamily="18" charset="0"/>
                <a:cs typeface="Times New Roman" pitchFamily="18" charset="0"/>
              </a:rPr>
              <a:t>METHODOLOGY</a:t>
            </a:r>
          </a:p>
        </p:txBody>
      </p:sp>
      <p:grpSp>
        <p:nvGrpSpPr>
          <p:cNvPr id="4" name="object 3">
            <a:extLst>
              <a:ext uri="{FF2B5EF4-FFF2-40B4-BE49-F238E27FC236}">
                <a16:creationId xmlns:a16="http://schemas.microsoft.com/office/drawing/2014/main" id="{F02D1B8B-963F-84C5-69F0-17C3EECCFD8D}"/>
              </a:ext>
            </a:extLst>
          </p:cNvPr>
          <p:cNvGrpSpPr/>
          <p:nvPr/>
        </p:nvGrpSpPr>
        <p:grpSpPr>
          <a:xfrm>
            <a:off x="4396509" y="48218"/>
            <a:ext cx="5258568" cy="1234623"/>
            <a:chOff x="2648188" y="47148"/>
            <a:chExt cx="5103904" cy="1198311"/>
          </a:xfrm>
        </p:grpSpPr>
        <p:pic>
          <p:nvPicPr>
            <p:cNvPr id="10" name="object 4">
              <a:extLst>
                <a:ext uri="{FF2B5EF4-FFF2-40B4-BE49-F238E27FC236}">
                  <a16:creationId xmlns:a16="http://schemas.microsoft.com/office/drawing/2014/main" id="{BD448D2F-A85D-4EA9-4AFA-DBD143FFC367}"/>
                </a:ext>
              </a:extLst>
            </p:cNvPr>
            <p:cNvPicPr/>
            <p:nvPr/>
          </p:nvPicPr>
          <p:blipFill>
            <a:blip r:embed="rId3" cstate="print"/>
            <a:stretch>
              <a:fillRect/>
            </a:stretch>
          </p:blipFill>
          <p:spPr>
            <a:xfrm>
              <a:off x="2648188" y="47148"/>
              <a:ext cx="5103904" cy="1198311"/>
            </a:xfrm>
            <a:prstGeom prst="rect">
              <a:avLst/>
            </a:prstGeom>
          </p:spPr>
        </p:pic>
        <p:pic>
          <p:nvPicPr>
            <p:cNvPr id="21" name="object 5">
              <a:extLst>
                <a:ext uri="{FF2B5EF4-FFF2-40B4-BE49-F238E27FC236}">
                  <a16:creationId xmlns:a16="http://schemas.microsoft.com/office/drawing/2014/main" id="{70B9531E-FF63-3CBC-8C76-5101CEB24CF2}"/>
                </a:ext>
              </a:extLst>
            </p:cNvPr>
            <p:cNvPicPr/>
            <p:nvPr/>
          </p:nvPicPr>
          <p:blipFill>
            <a:blip r:embed="rId4" cstate="print"/>
            <a:stretch>
              <a:fillRect/>
            </a:stretch>
          </p:blipFill>
          <p:spPr>
            <a:xfrm>
              <a:off x="2703195" y="86439"/>
              <a:ext cx="4997767" cy="1092279"/>
            </a:xfrm>
            <a:prstGeom prst="rect">
              <a:avLst/>
            </a:prstGeom>
          </p:spPr>
        </p:pic>
        <p:pic>
          <p:nvPicPr>
            <p:cNvPr id="22" name="object 6">
              <a:extLst>
                <a:ext uri="{FF2B5EF4-FFF2-40B4-BE49-F238E27FC236}">
                  <a16:creationId xmlns:a16="http://schemas.microsoft.com/office/drawing/2014/main" id="{A51A82D2-D894-569F-6C1F-514FA4F12972}"/>
                </a:ext>
              </a:extLst>
            </p:cNvPr>
            <p:cNvPicPr/>
            <p:nvPr/>
          </p:nvPicPr>
          <p:blipFill>
            <a:blip r:embed="rId5" cstate="print"/>
            <a:stretch>
              <a:fillRect/>
            </a:stretch>
          </p:blipFill>
          <p:spPr>
            <a:xfrm>
              <a:off x="2828925" y="243549"/>
              <a:ext cx="4585268" cy="522565"/>
            </a:xfrm>
            <a:prstGeom prst="rect">
              <a:avLst/>
            </a:prstGeom>
          </p:spPr>
        </p:pic>
        <p:sp>
          <p:nvSpPr>
            <p:cNvPr id="23" name="object 7">
              <a:extLst>
                <a:ext uri="{FF2B5EF4-FFF2-40B4-BE49-F238E27FC236}">
                  <a16:creationId xmlns:a16="http://schemas.microsoft.com/office/drawing/2014/main" id="{B3782B54-B821-DE87-C2B7-79ECF9E77AF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2061"/>
            </a:p>
          </p:txBody>
        </p:sp>
      </p:grpSp>
      <p:sp>
        <p:nvSpPr>
          <p:cNvPr id="25" name="TextBox 24">
            <a:extLst>
              <a:ext uri="{FF2B5EF4-FFF2-40B4-BE49-F238E27FC236}">
                <a16:creationId xmlns:a16="http://schemas.microsoft.com/office/drawing/2014/main" id="{A5CA9835-2A27-E3B2-E349-E0FE4429CFBE}"/>
              </a:ext>
            </a:extLst>
          </p:cNvPr>
          <p:cNvSpPr txBox="1"/>
          <p:nvPr/>
        </p:nvSpPr>
        <p:spPr>
          <a:xfrm>
            <a:off x="4391783" y="308053"/>
            <a:ext cx="5181600" cy="421879"/>
          </a:xfrm>
          <a:prstGeom prst="rect">
            <a:avLst/>
          </a:prstGeom>
          <a:noFill/>
        </p:spPr>
        <p:txBody>
          <a:bodyPr wrap="square">
            <a:spAutoFit/>
          </a:bodyPr>
          <a:lstStyle/>
          <a:p>
            <a:pPr algn="ctr">
              <a:spcAft>
                <a:spcPts val="721"/>
              </a:spcAft>
              <a:defRPr sz="2200" b="1">
                <a:solidFill>
                  <a:srgbClr val="233464"/>
                </a:solidFill>
                <a:latin typeface="Aptos"/>
              </a:defRPr>
            </a:pPr>
            <a:r>
              <a:rPr lang="en-IN" sz="2061" dirty="0">
                <a:solidFill>
                  <a:schemeClr val="bg1"/>
                </a:solidFill>
                <a:latin typeface="Times New Roman" pitchFamily="18" charset="0"/>
                <a:cs typeface="Times New Roman" pitchFamily="18" charset="0"/>
              </a:rPr>
              <a:t>METHODOLOGY</a:t>
            </a:r>
          </a:p>
        </p:txBody>
      </p:sp>
      <p:sp>
        <p:nvSpPr>
          <p:cNvPr id="2" name="TextBox 1">
            <a:extLst>
              <a:ext uri="{FF2B5EF4-FFF2-40B4-BE49-F238E27FC236}">
                <a16:creationId xmlns:a16="http://schemas.microsoft.com/office/drawing/2014/main" id="{2652836C-4B43-4421-328E-B7DE1011B338}"/>
              </a:ext>
            </a:extLst>
          </p:cNvPr>
          <p:cNvSpPr txBox="1"/>
          <p:nvPr/>
        </p:nvSpPr>
        <p:spPr>
          <a:xfrm>
            <a:off x="850385" y="1243860"/>
            <a:ext cx="5753616" cy="1569660"/>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Module 4 – Artist Analysis</a:t>
            </a:r>
          </a:p>
          <a:p>
            <a:pPr lvl="0"/>
            <a:r>
              <a:rPr lang="en-IN" sz="2400" dirty="0">
                <a:latin typeface="Times New Roman" panose="02020603050405020304" pitchFamily="18" charset="0"/>
                <a:cs typeface="Times New Roman" panose="02020603050405020304" pitchFamily="18" charset="0"/>
              </a:rPr>
              <a:t>Count listeners for each artist. </a:t>
            </a:r>
          </a:p>
          <a:p>
            <a:pPr lvl="0"/>
            <a:r>
              <a:rPr lang="en-IN" sz="2400" dirty="0">
                <a:latin typeface="Times New Roman" panose="02020603050405020304" pitchFamily="18" charset="0"/>
                <a:cs typeface="Times New Roman" panose="02020603050405020304" pitchFamily="18" charset="0"/>
              </a:rPr>
              <a:t>Identify popular artists.</a:t>
            </a:r>
          </a:p>
          <a:p>
            <a:r>
              <a:rPr lang="en-IN" sz="2400" b="1" dirty="0">
                <a:latin typeface="Times New Roman" panose="02020603050405020304" pitchFamily="18" charset="0"/>
                <a:cs typeface="Times New Roman" panose="02020603050405020304" pitchFamily="18" charset="0"/>
              </a:rPr>
              <a:t>Code:</a:t>
            </a:r>
          </a:p>
        </p:txBody>
      </p:sp>
      <p:pic>
        <p:nvPicPr>
          <p:cNvPr id="7" name="object 3">
            <a:extLst>
              <a:ext uri="{FF2B5EF4-FFF2-40B4-BE49-F238E27FC236}">
                <a16:creationId xmlns:a16="http://schemas.microsoft.com/office/drawing/2014/main" id="{161B3EFD-9526-83FB-847F-2536AB82B818}"/>
              </a:ext>
            </a:extLst>
          </p:cNvPr>
          <p:cNvPicPr/>
          <p:nvPr/>
        </p:nvPicPr>
        <p:blipFill>
          <a:blip r:embed="rId6" cstate="print"/>
          <a:stretch>
            <a:fillRect/>
          </a:stretch>
        </p:blipFill>
        <p:spPr>
          <a:xfrm>
            <a:off x="431800" y="129116"/>
            <a:ext cx="1752600" cy="799233"/>
          </a:xfrm>
          <a:prstGeom prst="rect">
            <a:avLst/>
          </a:prstGeom>
        </p:spPr>
      </p:pic>
      <p:pic>
        <p:nvPicPr>
          <p:cNvPr id="8" name="Picture 7">
            <a:extLst>
              <a:ext uri="{FF2B5EF4-FFF2-40B4-BE49-F238E27FC236}">
                <a16:creationId xmlns:a16="http://schemas.microsoft.com/office/drawing/2014/main" id="{14D07BA4-8C41-FF2C-832E-BBF5F87DE224}"/>
              </a:ext>
            </a:extLst>
          </p:cNvPr>
          <p:cNvPicPr>
            <a:picLocks noChangeAspect="1"/>
          </p:cNvPicPr>
          <p:nvPr/>
        </p:nvPicPr>
        <p:blipFill>
          <a:blip r:embed="rId7"/>
          <a:stretch>
            <a:fillRect/>
          </a:stretch>
        </p:blipFill>
        <p:spPr>
          <a:xfrm>
            <a:off x="8054877" y="1358067"/>
            <a:ext cx="3200400" cy="2959100"/>
          </a:xfrm>
          <a:prstGeom prst="rect">
            <a:avLst/>
          </a:prstGeom>
        </p:spPr>
      </p:pic>
      <p:sp>
        <p:nvSpPr>
          <p:cNvPr id="9" name="TextBox 8">
            <a:extLst>
              <a:ext uri="{FF2B5EF4-FFF2-40B4-BE49-F238E27FC236}">
                <a16:creationId xmlns:a16="http://schemas.microsoft.com/office/drawing/2014/main" id="{5B39A8CF-9B80-1536-5B0B-1AD2329AB66C}"/>
              </a:ext>
            </a:extLst>
          </p:cNvPr>
          <p:cNvSpPr txBox="1"/>
          <p:nvPr/>
        </p:nvSpPr>
        <p:spPr>
          <a:xfrm>
            <a:off x="8115589" y="964967"/>
            <a:ext cx="1293944" cy="461665"/>
          </a:xfrm>
          <a:prstGeom prst="rect">
            <a:avLst/>
          </a:prstGeom>
          <a:noFill/>
        </p:spPr>
        <p:txBody>
          <a:bodyPr wrap="none" rtlCol="0">
            <a:spAutoFit/>
          </a:bodyPr>
          <a:lstStyle/>
          <a:p>
            <a:r>
              <a:rPr lang="en-IN" sz="2400" b="1" dirty="0"/>
              <a:t>Output:</a:t>
            </a:r>
          </a:p>
        </p:txBody>
      </p:sp>
      <p:sp>
        <p:nvSpPr>
          <p:cNvPr id="11" name="TextBox 10">
            <a:extLst>
              <a:ext uri="{FF2B5EF4-FFF2-40B4-BE49-F238E27FC236}">
                <a16:creationId xmlns:a16="http://schemas.microsoft.com/office/drawing/2014/main" id="{8C10378B-5FE1-F476-6BDB-2D828C7A4610}"/>
              </a:ext>
            </a:extLst>
          </p:cNvPr>
          <p:cNvSpPr txBox="1"/>
          <p:nvPr/>
        </p:nvSpPr>
        <p:spPr>
          <a:xfrm>
            <a:off x="880741" y="4237027"/>
            <a:ext cx="4027064" cy="1938992"/>
          </a:xfrm>
          <a:prstGeom prst="rect">
            <a:avLst/>
          </a:prstGeom>
          <a:noFill/>
        </p:spPr>
        <p:txBody>
          <a:bodyPr wrap="none" rtlCol="0">
            <a:spAutoFit/>
          </a:bodyPr>
          <a:lstStyle/>
          <a:p>
            <a:r>
              <a:rPr lang="en-IN" sz="2400" b="1" dirty="0">
                <a:latin typeface="Times New Roman" panose="02020603050405020304" pitchFamily="18" charset="0"/>
                <a:cs typeface="Times New Roman" panose="02020603050405020304" pitchFamily="18" charset="0"/>
              </a:rPr>
              <a:t>Module 5 – Genre Analysis</a:t>
            </a:r>
          </a:p>
          <a:p>
            <a:pPr lvl="0"/>
            <a:r>
              <a:rPr lang="en-IN" sz="2400" dirty="0">
                <a:latin typeface="Times New Roman" panose="02020603050405020304" pitchFamily="18" charset="0"/>
                <a:cs typeface="Times New Roman" panose="02020603050405020304" pitchFamily="18" charset="0"/>
              </a:rPr>
              <a:t>Count listeners for each genre. </a:t>
            </a:r>
          </a:p>
          <a:p>
            <a:pPr lvl="0"/>
            <a:r>
              <a:rPr lang="en-IN" sz="2400" dirty="0">
                <a:latin typeface="Times New Roman" panose="02020603050405020304" pitchFamily="18" charset="0"/>
                <a:cs typeface="Times New Roman" panose="02020603050405020304" pitchFamily="18" charset="0"/>
              </a:rPr>
              <a:t>Analyse genre distribution.</a:t>
            </a:r>
          </a:p>
          <a:p>
            <a:pPr lvl="0"/>
            <a:r>
              <a:rPr lang="en-IN" sz="2400" b="1" dirty="0">
                <a:latin typeface="Times New Roman" panose="02020603050405020304" pitchFamily="18" charset="0"/>
                <a:cs typeface="Times New Roman" panose="02020603050405020304" pitchFamily="18" charset="0"/>
              </a:rPr>
              <a:t>Code</a:t>
            </a:r>
            <a:r>
              <a:rPr lang="en-IN" sz="2400" dirty="0">
                <a:latin typeface="Times New Roman" panose="02020603050405020304" pitchFamily="18" charset="0"/>
                <a:cs typeface="Times New Roman" panose="02020603050405020304" pitchFamily="18" charset="0"/>
              </a:rPr>
              <a:t>:</a:t>
            </a:r>
          </a:p>
          <a:p>
            <a:endParaRPr lang="en-IN" sz="2400"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8A3415C5-C1E6-C46D-8F1B-BFD98606BAE6}"/>
              </a:ext>
            </a:extLst>
          </p:cNvPr>
          <p:cNvPicPr>
            <a:picLocks noChangeAspect="1"/>
          </p:cNvPicPr>
          <p:nvPr/>
        </p:nvPicPr>
        <p:blipFill>
          <a:blip r:embed="rId8"/>
          <a:stretch>
            <a:fillRect/>
          </a:stretch>
        </p:blipFill>
        <p:spPr>
          <a:xfrm>
            <a:off x="8115589" y="4454641"/>
            <a:ext cx="3207215" cy="2813624"/>
          </a:xfrm>
          <a:prstGeom prst="rect">
            <a:avLst/>
          </a:prstGeom>
        </p:spPr>
      </p:pic>
      <p:pic>
        <p:nvPicPr>
          <p:cNvPr id="17" name="Picture 16">
            <a:extLst>
              <a:ext uri="{FF2B5EF4-FFF2-40B4-BE49-F238E27FC236}">
                <a16:creationId xmlns:a16="http://schemas.microsoft.com/office/drawing/2014/main" id="{24AC8FA2-7E2D-D0DB-D9B1-4FD0EA96C206}"/>
              </a:ext>
            </a:extLst>
          </p:cNvPr>
          <p:cNvPicPr>
            <a:picLocks noChangeAspect="1"/>
          </p:cNvPicPr>
          <p:nvPr/>
        </p:nvPicPr>
        <p:blipFill>
          <a:blip r:embed="rId9"/>
          <a:stretch>
            <a:fillRect/>
          </a:stretch>
        </p:blipFill>
        <p:spPr>
          <a:xfrm>
            <a:off x="952373" y="2837616"/>
            <a:ext cx="6870827" cy="1234623"/>
          </a:xfrm>
          <a:prstGeom prst="rect">
            <a:avLst/>
          </a:prstGeom>
        </p:spPr>
      </p:pic>
      <p:pic>
        <p:nvPicPr>
          <p:cNvPr id="20" name="Picture 19">
            <a:extLst>
              <a:ext uri="{FF2B5EF4-FFF2-40B4-BE49-F238E27FC236}">
                <a16:creationId xmlns:a16="http://schemas.microsoft.com/office/drawing/2014/main" id="{EE5FD2D3-6A52-193C-4C89-589CB72CEB42}"/>
              </a:ext>
            </a:extLst>
          </p:cNvPr>
          <p:cNvPicPr>
            <a:picLocks noChangeAspect="1"/>
          </p:cNvPicPr>
          <p:nvPr/>
        </p:nvPicPr>
        <p:blipFill>
          <a:blip r:embed="rId10"/>
          <a:stretch>
            <a:fillRect/>
          </a:stretch>
        </p:blipFill>
        <p:spPr>
          <a:xfrm>
            <a:off x="880741" y="5797021"/>
            <a:ext cx="7240230" cy="1234623"/>
          </a:xfrm>
          <a:prstGeom prst="rect">
            <a:avLst/>
          </a:prstGeom>
        </p:spPr>
      </p:pic>
    </p:spTree>
    <p:extLst>
      <p:ext uri="{BB962C8B-B14F-4D97-AF65-F5344CB8AC3E}">
        <p14:creationId xmlns:p14="http://schemas.microsoft.com/office/powerpoint/2010/main" val="37442172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AA135-0263-D0A5-6FAE-619FF309B6D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2D21683-E6FF-1A2B-9F07-E272D760D7F7}"/>
              </a:ext>
            </a:extLst>
          </p:cNvPr>
          <p:cNvSpPr txBox="1"/>
          <p:nvPr/>
        </p:nvSpPr>
        <p:spPr>
          <a:xfrm>
            <a:off x="4215205" y="332945"/>
            <a:ext cx="5275811" cy="421879"/>
          </a:xfrm>
          <a:prstGeom prst="rect">
            <a:avLst/>
          </a:prstGeom>
          <a:noFill/>
        </p:spPr>
        <p:txBody>
          <a:bodyPr wrap="square">
            <a:spAutoFit/>
          </a:bodyPr>
          <a:lstStyle/>
          <a:p>
            <a:pPr algn="ctr">
              <a:spcAft>
                <a:spcPts val="721"/>
              </a:spcAft>
              <a:defRPr sz="2200" b="1">
                <a:solidFill>
                  <a:srgbClr val="233464"/>
                </a:solidFill>
                <a:latin typeface="Aptos"/>
              </a:defRPr>
            </a:pPr>
            <a:r>
              <a:rPr sz="2061" dirty="0">
                <a:solidFill>
                  <a:schemeClr val="bg1"/>
                </a:solidFill>
                <a:latin typeface="Times New Roman" pitchFamily="18" charset="0"/>
                <a:cs typeface="Times New Roman" pitchFamily="18" charset="0"/>
              </a:rPr>
              <a:t>METHODOLOGY</a:t>
            </a:r>
          </a:p>
        </p:txBody>
      </p:sp>
      <p:grpSp>
        <p:nvGrpSpPr>
          <p:cNvPr id="4" name="object 3">
            <a:extLst>
              <a:ext uri="{FF2B5EF4-FFF2-40B4-BE49-F238E27FC236}">
                <a16:creationId xmlns:a16="http://schemas.microsoft.com/office/drawing/2014/main" id="{2E1CBF39-08C4-720E-67A2-C3EE7A011662}"/>
              </a:ext>
            </a:extLst>
          </p:cNvPr>
          <p:cNvGrpSpPr/>
          <p:nvPr/>
        </p:nvGrpSpPr>
        <p:grpSpPr>
          <a:xfrm>
            <a:off x="4396509" y="48218"/>
            <a:ext cx="5258568" cy="1234623"/>
            <a:chOff x="2648188" y="47148"/>
            <a:chExt cx="5103904" cy="1198311"/>
          </a:xfrm>
        </p:grpSpPr>
        <p:pic>
          <p:nvPicPr>
            <p:cNvPr id="10" name="object 4">
              <a:extLst>
                <a:ext uri="{FF2B5EF4-FFF2-40B4-BE49-F238E27FC236}">
                  <a16:creationId xmlns:a16="http://schemas.microsoft.com/office/drawing/2014/main" id="{50D505E1-6A4A-7190-093E-A50C31F73454}"/>
                </a:ext>
              </a:extLst>
            </p:cNvPr>
            <p:cNvPicPr/>
            <p:nvPr/>
          </p:nvPicPr>
          <p:blipFill>
            <a:blip r:embed="rId3" cstate="print"/>
            <a:stretch>
              <a:fillRect/>
            </a:stretch>
          </p:blipFill>
          <p:spPr>
            <a:xfrm>
              <a:off x="2648188" y="47148"/>
              <a:ext cx="5103904" cy="1198311"/>
            </a:xfrm>
            <a:prstGeom prst="rect">
              <a:avLst/>
            </a:prstGeom>
          </p:spPr>
        </p:pic>
        <p:pic>
          <p:nvPicPr>
            <p:cNvPr id="21" name="object 5">
              <a:extLst>
                <a:ext uri="{FF2B5EF4-FFF2-40B4-BE49-F238E27FC236}">
                  <a16:creationId xmlns:a16="http://schemas.microsoft.com/office/drawing/2014/main" id="{EFDF047C-352F-E379-5009-9C0165CFBD2D}"/>
                </a:ext>
              </a:extLst>
            </p:cNvPr>
            <p:cNvPicPr/>
            <p:nvPr/>
          </p:nvPicPr>
          <p:blipFill>
            <a:blip r:embed="rId4" cstate="print"/>
            <a:stretch>
              <a:fillRect/>
            </a:stretch>
          </p:blipFill>
          <p:spPr>
            <a:xfrm>
              <a:off x="2703195" y="86439"/>
              <a:ext cx="4997767" cy="1092279"/>
            </a:xfrm>
            <a:prstGeom prst="rect">
              <a:avLst/>
            </a:prstGeom>
          </p:spPr>
        </p:pic>
        <p:pic>
          <p:nvPicPr>
            <p:cNvPr id="22" name="object 6">
              <a:extLst>
                <a:ext uri="{FF2B5EF4-FFF2-40B4-BE49-F238E27FC236}">
                  <a16:creationId xmlns:a16="http://schemas.microsoft.com/office/drawing/2014/main" id="{20E864FF-2699-6242-0996-C22FD1FD3BCC}"/>
                </a:ext>
              </a:extLst>
            </p:cNvPr>
            <p:cNvPicPr/>
            <p:nvPr/>
          </p:nvPicPr>
          <p:blipFill>
            <a:blip r:embed="rId5" cstate="print"/>
            <a:stretch>
              <a:fillRect/>
            </a:stretch>
          </p:blipFill>
          <p:spPr>
            <a:xfrm>
              <a:off x="2828925" y="243549"/>
              <a:ext cx="4585268" cy="522565"/>
            </a:xfrm>
            <a:prstGeom prst="rect">
              <a:avLst/>
            </a:prstGeom>
          </p:spPr>
        </p:pic>
        <p:sp>
          <p:nvSpPr>
            <p:cNvPr id="23" name="object 7">
              <a:extLst>
                <a:ext uri="{FF2B5EF4-FFF2-40B4-BE49-F238E27FC236}">
                  <a16:creationId xmlns:a16="http://schemas.microsoft.com/office/drawing/2014/main" id="{9B9C3390-AB0B-CAC1-FF42-23456BA3589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2061"/>
            </a:p>
          </p:txBody>
        </p:sp>
      </p:grpSp>
      <p:sp>
        <p:nvSpPr>
          <p:cNvPr id="25" name="TextBox 24">
            <a:extLst>
              <a:ext uri="{FF2B5EF4-FFF2-40B4-BE49-F238E27FC236}">
                <a16:creationId xmlns:a16="http://schemas.microsoft.com/office/drawing/2014/main" id="{F67C23B8-2DED-FB80-B4EE-CE20D7F3E130}"/>
              </a:ext>
            </a:extLst>
          </p:cNvPr>
          <p:cNvSpPr txBox="1"/>
          <p:nvPr/>
        </p:nvSpPr>
        <p:spPr>
          <a:xfrm>
            <a:off x="4391783" y="308053"/>
            <a:ext cx="5181600" cy="421879"/>
          </a:xfrm>
          <a:prstGeom prst="rect">
            <a:avLst/>
          </a:prstGeom>
          <a:noFill/>
        </p:spPr>
        <p:txBody>
          <a:bodyPr wrap="square">
            <a:spAutoFit/>
          </a:bodyPr>
          <a:lstStyle/>
          <a:p>
            <a:pPr algn="ctr">
              <a:spcAft>
                <a:spcPts val="721"/>
              </a:spcAft>
              <a:defRPr sz="2200" b="1">
                <a:solidFill>
                  <a:srgbClr val="233464"/>
                </a:solidFill>
                <a:latin typeface="Aptos"/>
              </a:defRPr>
            </a:pPr>
            <a:r>
              <a:rPr lang="en-IN" sz="2061" dirty="0">
                <a:solidFill>
                  <a:schemeClr val="bg1"/>
                </a:solidFill>
                <a:latin typeface="Times New Roman" pitchFamily="18" charset="0"/>
                <a:cs typeface="Times New Roman" pitchFamily="18" charset="0"/>
              </a:rPr>
              <a:t>METHODOLOGY</a:t>
            </a:r>
          </a:p>
        </p:txBody>
      </p:sp>
      <p:sp>
        <p:nvSpPr>
          <p:cNvPr id="2" name="TextBox 1">
            <a:extLst>
              <a:ext uri="{FF2B5EF4-FFF2-40B4-BE49-F238E27FC236}">
                <a16:creationId xmlns:a16="http://schemas.microsoft.com/office/drawing/2014/main" id="{20B64704-31D8-DB3A-12CE-E44617B9F25B}"/>
              </a:ext>
            </a:extLst>
          </p:cNvPr>
          <p:cNvSpPr txBox="1"/>
          <p:nvPr/>
        </p:nvSpPr>
        <p:spPr>
          <a:xfrm>
            <a:off x="843096" y="1299788"/>
            <a:ext cx="11704504" cy="1569660"/>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Module 6 – Music Consumption Analysis</a:t>
            </a:r>
          </a:p>
          <a:p>
            <a:pPr lvl="0"/>
            <a:r>
              <a:rPr lang="en-IN" sz="2400" dirty="0">
                <a:latin typeface="Times New Roman" panose="02020603050405020304" pitchFamily="18" charset="0"/>
                <a:cs typeface="Times New Roman" panose="02020603050405020304" pitchFamily="18" charset="0"/>
              </a:rPr>
              <a:t>Analyse songs listened to per day. </a:t>
            </a:r>
          </a:p>
          <a:p>
            <a:pPr lvl="0"/>
            <a:r>
              <a:rPr lang="en-IN" sz="2400" dirty="0">
                <a:latin typeface="Times New Roman" panose="02020603050405020304" pitchFamily="18" charset="0"/>
                <a:cs typeface="Times New Roman" panose="02020603050405020304" pitchFamily="18" charset="0"/>
              </a:rPr>
              <a:t>Identify music consumption patterns.</a:t>
            </a:r>
          </a:p>
          <a:p>
            <a:r>
              <a:rPr lang="en-IN" sz="2400" b="1" dirty="0">
                <a:latin typeface="Times New Roman" panose="02020603050405020304" pitchFamily="18" charset="0"/>
                <a:cs typeface="Times New Roman" panose="02020603050405020304" pitchFamily="18" charset="0"/>
              </a:rPr>
              <a:t>Code:</a:t>
            </a:r>
            <a:endParaRPr lang="en-IN" sz="2400" dirty="0">
              <a:latin typeface="Times New Roman" panose="02020603050405020304" pitchFamily="18" charset="0"/>
              <a:cs typeface="Times New Roman" panose="02020603050405020304" pitchFamily="18" charset="0"/>
            </a:endParaRPr>
          </a:p>
        </p:txBody>
      </p:sp>
      <p:pic>
        <p:nvPicPr>
          <p:cNvPr id="7" name="object 3">
            <a:extLst>
              <a:ext uri="{FF2B5EF4-FFF2-40B4-BE49-F238E27FC236}">
                <a16:creationId xmlns:a16="http://schemas.microsoft.com/office/drawing/2014/main" id="{91BB9E85-CC54-15B1-57F4-91EA1359C4A9}"/>
              </a:ext>
            </a:extLst>
          </p:cNvPr>
          <p:cNvPicPr/>
          <p:nvPr/>
        </p:nvPicPr>
        <p:blipFill>
          <a:blip r:embed="rId6" cstate="print"/>
          <a:stretch>
            <a:fillRect/>
          </a:stretch>
        </p:blipFill>
        <p:spPr>
          <a:xfrm>
            <a:off x="431800" y="129116"/>
            <a:ext cx="1752600" cy="799233"/>
          </a:xfrm>
          <a:prstGeom prst="rect">
            <a:avLst/>
          </a:prstGeom>
        </p:spPr>
      </p:pic>
      <p:pic>
        <p:nvPicPr>
          <p:cNvPr id="12" name="Picture 11">
            <a:extLst>
              <a:ext uri="{FF2B5EF4-FFF2-40B4-BE49-F238E27FC236}">
                <a16:creationId xmlns:a16="http://schemas.microsoft.com/office/drawing/2014/main" id="{E6244287-F135-D0D6-23F4-C10612D6C6A5}"/>
              </a:ext>
            </a:extLst>
          </p:cNvPr>
          <p:cNvPicPr>
            <a:picLocks noChangeAspect="1"/>
          </p:cNvPicPr>
          <p:nvPr/>
        </p:nvPicPr>
        <p:blipFill>
          <a:blip r:embed="rId7"/>
          <a:stretch>
            <a:fillRect/>
          </a:stretch>
        </p:blipFill>
        <p:spPr>
          <a:xfrm>
            <a:off x="843096" y="2795201"/>
            <a:ext cx="7665904" cy="2568540"/>
          </a:xfrm>
          <a:prstGeom prst="rect">
            <a:avLst/>
          </a:prstGeom>
        </p:spPr>
      </p:pic>
      <p:pic>
        <p:nvPicPr>
          <p:cNvPr id="16" name="Picture 15">
            <a:extLst>
              <a:ext uri="{FF2B5EF4-FFF2-40B4-BE49-F238E27FC236}">
                <a16:creationId xmlns:a16="http://schemas.microsoft.com/office/drawing/2014/main" id="{33256D2F-0D34-F0FC-D68D-F995BCADCF8C}"/>
              </a:ext>
            </a:extLst>
          </p:cNvPr>
          <p:cNvPicPr>
            <a:picLocks noChangeAspect="1"/>
          </p:cNvPicPr>
          <p:nvPr/>
        </p:nvPicPr>
        <p:blipFill>
          <a:blip r:embed="rId8"/>
          <a:stretch>
            <a:fillRect/>
          </a:stretch>
        </p:blipFill>
        <p:spPr>
          <a:xfrm>
            <a:off x="8051800" y="1585517"/>
            <a:ext cx="5118012" cy="4171551"/>
          </a:xfrm>
          <a:prstGeom prst="rect">
            <a:avLst/>
          </a:prstGeom>
        </p:spPr>
      </p:pic>
    </p:spTree>
    <p:extLst>
      <p:ext uri="{BB962C8B-B14F-4D97-AF65-F5344CB8AC3E}">
        <p14:creationId xmlns:p14="http://schemas.microsoft.com/office/powerpoint/2010/main" val="8641387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1D8CC-A91F-C0C6-D4B3-3BC98C1F675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5E6FE5C-935A-87CC-BBD1-D6269112E740}"/>
              </a:ext>
            </a:extLst>
          </p:cNvPr>
          <p:cNvSpPr txBox="1"/>
          <p:nvPr/>
        </p:nvSpPr>
        <p:spPr>
          <a:xfrm>
            <a:off x="4215205" y="332945"/>
            <a:ext cx="5275811" cy="421879"/>
          </a:xfrm>
          <a:prstGeom prst="rect">
            <a:avLst/>
          </a:prstGeom>
          <a:noFill/>
        </p:spPr>
        <p:txBody>
          <a:bodyPr wrap="square">
            <a:spAutoFit/>
          </a:bodyPr>
          <a:lstStyle/>
          <a:p>
            <a:pPr algn="ctr">
              <a:spcAft>
                <a:spcPts val="721"/>
              </a:spcAft>
              <a:defRPr sz="2200" b="1">
                <a:solidFill>
                  <a:srgbClr val="233464"/>
                </a:solidFill>
                <a:latin typeface="Aptos"/>
              </a:defRPr>
            </a:pPr>
            <a:r>
              <a:rPr sz="2061" dirty="0">
                <a:solidFill>
                  <a:schemeClr val="bg1"/>
                </a:solidFill>
                <a:latin typeface="Times New Roman" pitchFamily="18" charset="0"/>
                <a:cs typeface="Times New Roman" pitchFamily="18" charset="0"/>
              </a:rPr>
              <a:t>METHODOLOGY</a:t>
            </a:r>
          </a:p>
        </p:txBody>
      </p:sp>
      <p:grpSp>
        <p:nvGrpSpPr>
          <p:cNvPr id="4" name="object 3">
            <a:extLst>
              <a:ext uri="{FF2B5EF4-FFF2-40B4-BE49-F238E27FC236}">
                <a16:creationId xmlns:a16="http://schemas.microsoft.com/office/drawing/2014/main" id="{9EA0C54D-6FBA-87AE-6583-127F46A328D4}"/>
              </a:ext>
            </a:extLst>
          </p:cNvPr>
          <p:cNvGrpSpPr/>
          <p:nvPr/>
        </p:nvGrpSpPr>
        <p:grpSpPr>
          <a:xfrm>
            <a:off x="4396509" y="48218"/>
            <a:ext cx="5258568" cy="1234623"/>
            <a:chOff x="2648188" y="47148"/>
            <a:chExt cx="5103904" cy="1198311"/>
          </a:xfrm>
        </p:grpSpPr>
        <p:pic>
          <p:nvPicPr>
            <p:cNvPr id="10" name="object 4">
              <a:extLst>
                <a:ext uri="{FF2B5EF4-FFF2-40B4-BE49-F238E27FC236}">
                  <a16:creationId xmlns:a16="http://schemas.microsoft.com/office/drawing/2014/main" id="{66EC21A3-E2CB-8CDE-E5BE-58A554BF46FD}"/>
                </a:ext>
              </a:extLst>
            </p:cNvPr>
            <p:cNvPicPr/>
            <p:nvPr/>
          </p:nvPicPr>
          <p:blipFill>
            <a:blip r:embed="rId3" cstate="print"/>
            <a:stretch>
              <a:fillRect/>
            </a:stretch>
          </p:blipFill>
          <p:spPr>
            <a:xfrm>
              <a:off x="2648188" y="47148"/>
              <a:ext cx="5103904" cy="1198311"/>
            </a:xfrm>
            <a:prstGeom prst="rect">
              <a:avLst/>
            </a:prstGeom>
          </p:spPr>
        </p:pic>
        <p:pic>
          <p:nvPicPr>
            <p:cNvPr id="21" name="object 5">
              <a:extLst>
                <a:ext uri="{FF2B5EF4-FFF2-40B4-BE49-F238E27FC236}">
                  <a16:creationId xmlns:a16="http://schemas.microsoft.com/office/drawing/2014/main" id="{54C0E92B-58BE-018C-7381-CB3F46E4B652}"/>
                </a:ext>
              </a:extLst>
            </p:cNvPr>
            <p:cNvPicPr/>
            <p:nvPr/>
          </p:nvPicPr>
          <p:blipFill>
            <a:blip r:embed="rId4" cstate="print"/>
            <a:stretch>
              <a:fillRect/>
            </a:stretch>
          </p:blipFill>
          <p:spPr>
            <a:xfrm>
              <a:off x="2703195" y="86439"/>
              <a:ext cx="4997767" cy="1092279"/>
            </a:xfrm>
            <a:prstGeom prst="rect">
              <a:avLst/>
            </a:prstGeom>
          </p:spPr>
        </p:pic>
        <p:pic>
          <p:nvPicPr>
            <p:cNvPr id="22" name="object 6">
              <a:extLst>
                <a:ext uri="{FF2B5EF4-FFF2-40B4-BE49-F238E27FC236}">
                  <a16:creationId xmlns:a16="http://schemas.microsoft.com/office/drawing/2014/main" id="{0ACA2D7F-AF62-D84B-335E-68F79A646E9A}"/>
                </a:ext>
              </a:extLst>
            </p:cNvPr>
            <p:cNvPicPr/>
            <p:nvPr/>
          </p:nvPicPr>
          <p:blipFill>
            <a:blip r:embed="rId5" cstate="print"/>
            <a:stretch>
              <a:fillRect/>
            </a:stretch>
          </p:blipFill>
          <p:spPr>
            <a:xfrm>
              <a:off x="2828925" y="243549"/>
              <a:ext cx="4585268" cy="522565"/>
            </a:xfrm>
            <a:prstGeom prst="rect">
              <a:avLst/>
            </a:prstGeom>
          </p:spPr>
        </p:pic>
        <p:sp>
          <p:nvSpPr>
            <p:cNvPr id="23" name="object 7">
              <a:extLst>
                <a:ext uri="{FF2B5EF4-FFF2-40B4-BE49-F238E27FC236}">
                  <a16:creationId xmlns:a16="http://schemas.microsoft.com/office/drawing/2014/main" id="{A7A32E16-C411-7F05-D2BA-55380840B6B1}"/>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2061"/>
            </a:p>
          </p:txBody>
        </p:sp>
      </p:grpSp>
      <p:sp>
        <p:nvSpPr>
          <p:cNvPr id="25" name="TextBox 24">
            <a:extLst>
              <a:ext uri="{FF2B5EF4-FFF2-40B4-BE49-F238E27FC236}">
                <a16:creationId xmlns:a16="http://schemas.microsoft.com/office/drawing/2014/main" id="{556229F3-827D-6360-491F-427D75A6FAD2}"/>
              </a:ext>
            </a:extLst>
          </p:cNvPr>
          <p:cNvSpPr txBox="1"/>
          <p:nvPr/>
        </p:nvSpPr>
        <p:spPr>
          <a:xfrm>
            <a:off x="4391783" y="308053"/>
            <a:ext cx="5181600" cy="421879"/>
          </a:xfrm>
          <a:prstGeom prst="rect">
            <a:avLst/>
          </a:prstGeom>
          <a:noFill/>
        </p:spPr>
        <p:txBody>
          <a:bodyPr wrap="square">
            <a:spAutoFit/>
          </a:bodyPr>
          <a:lstStyle/>
          <a:p>
            <a:pPr algn="ctr">
              <a:spcAft>
                <a:spcPts val="721"/>
              </a:spcAft>
              <a:defRPr sz="2200" b="1">
                <a:solidFill>
                  <a:srgbClr val="233464"/>
                </a:solidFill>
                <a:latin typeface="Aptos"/>
              </a:defRPr>
            </a:pPr>
            <a:r>
              <a:rPr lang="en-IN" sz="2061" dirty="0">
                <a:solidFill>
                  <a:schemeClr val="bg1"/>
                </a:solidFill>
                <a:latin typeface="Times New Roman" pitchFamily="18" charset="0"/>
                <a:cs typeface="Times New Roman" pitchFamily="18" charset="0"/>
              </a:rPr>
              <a:t>METHODOLOGY</a:t>
            </a:r>
          </a:p>
        </p:txBody>
      </p:sp>
      <p:pic>
        <p:nvPicPr>
          <p:cNvPr id="7" name="object 3">
            <a:extLst>
              <a:ext uri="{FF2B5EF4-FFF2-40B4-BE49-F238E27FC236}">
                <a16:creationId xmlns:a16="http://schemas.microsoft.com/office/drawing/2014/main" id="{F1FC5923-3A4A-AFEA-6536-DC28BB36B15E}"/>
              </a:ext>
            </a:extLst>
          </p:cNvPr>
          <p:cNvPicPr/>
          <p:nvPr/>
        </p:nvPicPr>
        <p:blipFill>
          <a:blip r:embed="rId6" cstate="print"/>
          <a:stretch>
            <a:fillRect/>
          </a:stretch>
        </p:blipFill>
        <p:spPr>
          <a:xfrm>
            <a:off x="431800" y="129116"/>
            <a:ext cx="1752600" cy="799233"/>
          </a:xfrm>
          <a:prstGeom prst="rect">
            <a:avLst/>
          </a:prstGeom>
        </p:spPr>
      </p:pic>
      <p:sp>
        <p:nvSpPr>
          <p:cNvPr id="5" name="TextBox 4">
            <a:extLst>
              <a:ext uri="{FF2B5EF4-FFF2-40B4-BE49-F238E27FC236}">
                <a16:creationId xmlns:a16="http://schemas.microsoft.com/office/drawing/2014/main" id="{93CF4556-1A06-E1B3-29D1-982BD86B2E90}"/>
              </a:ext>
            </a:extLst>
          </p:cNvPr>
          <p:cNvSpPr txBox="1"/>
          <p:nvPr/>
        </p:nvSpPr>
        <p:spPr>
          <a:xfrm>
            <a:off x="1299427" y="1532256"/>
            <a:ext cx="5596404" cy="1569660"/>
          </a:xfrm>
          <a:prstGeom prst="rect">
            <a:avLst/>
          </a:prstGeom>
          <a:noFill/>
        </p:spPr>
        <p:txBody>
          <a:bodyPr wrap="none" rtlCol="0">
            <a:spAutoFit/>
          </a:bodyPr>
          <a:lstStyle/>
          <a:p>
            <a:r>
              <a:rPr lang="en-IN" sz="2400" b="1" dirty="0">
                <a:latin typeface="Times New Roman" panose="02020603050405020304" pitchFamily="18" charset="0"/>
                <a:cs typeface="Times New Roman" panose="02020603050405020304" pitchFamily="18" charset="0"/>
              </a:rPr>
              <a:t>Module 7 – Listening Behaviour Analysis</a:t>
            </a:r>
          </a:p>
          <a:p>
            <a:pPr lvl="0"/>
            <a:r>
              <a:rPr lang="en-IN" sz="2400" dirty="0">
                <a:latin typeface="Times New Roman" panose="02020603050405020304" pitchFamily="18" charset="0"/>
                <a:cs typeface="Times New Roman" panose="02020603050405020304" pitchFamily="18" charset="0"/>
              </a:rPr>
              <a:t>Analyse daily listening minutes. </a:t>
            </a:r>
          </a:p>
          <a:p>
            <a:pPr lvl="0"/>
            <a:r>
              <a:rPr lang="en-IN" sz="2400" dirty="0">
                <a:latin typeface="Times New Roman" panose="02020603050405020304" pitchFamily="18" charset="0"/>
                <a:cs typeface="Times New Roman" panose="02020603050405020304" pitchFamily="18" charset="0"/>
              </a:rPr>
              <a:t>Calculate average listening time.</a:t>
            </a:r>
          </a:p>
          <a:p>
            <a:pPr lvl="0"/>
            <a:r>
              <a:rPr lang="en-IN" sz="2400" b="1" dirty="0">
                <a:latin typeface="Times New Roman" panose="02020603050405020304" pitchFamily="18" charset="0"/>
                <a:cs typeface="Times New Roman" panose="02020603050405020304" pitchFamily="18" charset="0"/>
              </a:rPr>
              <a:t>Code</a:t>
            </a:r>
            <a:r>
              <a:rPr lang="en-IN" sz="2400" dirty="0">
                <a:latin typeface="Times New Roman" panose="02020603050405020304" pitchFamily="18" charset="0"/>
                <a:cs typeface="Times New Roman" panose="02020603050405020304" pitchFamily="18" charset="0"/>
              </a:rPr>
              <a:t>:</a:t>
            </a:r>
          </a:p>
        </p:txBody>
      </p:sp>
      <p:pic>
        <p:nvPicPr>
          <p:cNvPr id="9" name="Picture 8">
            <a:extLst>
              <a:ext uri="{FF2B5EF4-FFF2-40B4-BE49-F238E27FC236}">
                <a16:creationId xmlns:a16="http://schemas.microsoft.com/office/drawing/2014/main" id="{A786278F-5FE1-4E72-EE5C-AE99C50403A7}"/>
              </a:ext>
            </a:extLst>
          </p:cNvPr>
          <p:cNvPicPr>
            <a:picLocks noChangeAspect="1"/>
          </p:cNvPicPr>
          <p:nvPr/>
        </p:nvPicPr>
        <p:blipFill>
          <a:blip r:embed="rId7"/>
          <a:stretch>
            <a:fillRect/>
          </a:stretch>
        </p:blipFill>
        <p:spPr>
          <a:xfrm>
            <a:off x="1283320" y="3111209"/>
            <a:ext cx="6340805" cy="2222791"/>
          </a:xfrm>
          <a:prstGeom prst="rect">
            <a:avLst/>
          </a:prstGeom>
        </p:spPr>
      </p:pic>
      <p:pic>
        <p:nvPicPr>
          <p:cNvPr id="14" name="Picture 13">
            <a:extLst>
              <a:ext uri="{FF2B5EF4-FFF2-40B4-BE49-F238E27FC236}">
                <a16:creationId xmlns:a16="http://schemas.microsoft.com/office/drawing/2014/main" id="{E3B06A05-036C-0DC2-CD61-4C6255249074}"/>
              </a:ext>
            </a:extLst>
          </p:cNvPr>
          <p:cNvPicPr>
            <a:picLocks noChangeAspect="1"/>
          </p:cNvPicPr>
          <p:nvPr/>
        </p:nvPicPr>
        <p:blipFill>
          <a:blip r:embed="rId8"/>
          <a:stretch>
            <a:fillRect/>
          </a:stretch>
        </p:blipFill>
        <p:spPr>
          <a:xfrm>
            <a:off x="8204200" y="1433431"/>
            <a:ext cx="4572000" cy="4586369"/>
          </a:xfrm>
          <a:prstGeom prst="rect">
            <a:avLst/>
          </a:prstGeom>
        </p:spPr>
      </p:pic>
    </p:spTree>
    <p:extLst>
      <p:ext uri="{BB962C8B-B14F-4D97-AF65-F5344CB8AC3E}">
        <p14:creationId xmlns:p14="http://schemas.microsoft.com/office/powerpoint/2010/main" val="35874357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3DB6A-F974-3979-1A7C-7762D95FA2D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DF637F7-A68A-1346-80F5-8FFFC1D77BCA}"/>
              </a:ext>
            </a:extLst>
          </p:cNvPr>
          <p:cNvSpPr txBox="1"/>
          <p:nvPr/>
        </p:nvSpPr>
        <p:spPr>
          <a:xfrm>
            <a:off x="4215205" y="332945"/>
            <a:ext cx="5275811" cy="421879"/>
          </a:xfrm>
          <a:prstGeom prst="rect">
            <a:avLst/>
          </a:prstGeom>
          <a:noFill/>
        </p:spPr>
        <p:txBody>
          <a:bodyPr wrap="square">
            <a:spAutoFit/>
          </a:bodyPr>
          <a:lstStyle/>
          <a:p>
            <a:pPr algn="ctr">
              <a:spcAft>
                <a:spcPts val="721"/>
              </a:spcAft>
              <a:defRPr sz="2200" b="1">
                <a:solidFill>
                  <a:srgbClr val="233464"/>
                </a:solidFill>
                <a:latin typeface="Aptos"/>
              </a:defRPr>
            </a:pPr>
            <a:r>
              <a:rPr sz="2061" dirty="0">
                <a:solidFill>
                  <a:schemeClr val="bg1"/>
                </a:solidFill>
                <a:latin typeface="Times New Roman" pitchFamily="18" charset="0"/>
                <a:cs typeface="Times New Roman" pitchFamily="18" charset="0"/>
              </a:rPr>
              <a:t>METHODOLOGY</a:t>
            </a:r>
          </a:p>
        </p:txBody>
      </p:sp>
      <p:grpSp>
        <p:nvGrpSpPr>
          <p:cNvPr id="4" name="object 3">
            <a:extLst>
              <a:ext uri="{FF2B5EF4-FFF2-40B4-BE49-F238E27FC236}">
                <a16:creationId xmlns:a16="http://schemas.microsoft.com/office/drawing/2014/main" id="{941CA913-A920-62C9-4A32-BB102161E975}"/>
              </a:ext>
            </a:extLst>
          </p:cNvPr>
          <p:cNvGrpSpPr/>
          <p:nvPr/>
        </p:nvGrpSpPr>
        <p:grpSpPr>
          <a:xfrm>
            <a:off x="4396509" y="48218"/>
            <a:ext cx="5258568" cy="1234623"/>
            <a:chOff x="2648188" y="47148"/>
            <a:chExt cx="5103904" cy="1198311"/>
          </a:xfrm>
        </p:grpSpPr>
        <p:pic>
          <p:nvPicPr>
            <p:cNvPr id="10" name="object 4">
              <a:extLst>
                <a:ext uri="{FF2B5EF4-FFF2-40B4-BE49-F238E27FC236}">
                  <a16:creationId xmlns:a16="http://schemas.microsoft.com/office/drawing/2014/main" id="{563CDBBB-B55C-7702-A85E-23195F48E205}"/>
                </a:ext>
              </a:extLst>
            </p:cNvPr>
            <p:cNvPicPr/>
            <p:nvPr/>
          </p:nvPicPr>
          <p:blipFill>
            <a:blip r:embed="rId3" cstate="print"/>
            <a:stretch>
              <a:fillRect/>
            </a:stretch>
          </p:blipFill>
          <p:spPr>
            <a:xfrm>
              <a:off x="2648188" y="47148"/>
              <a:ext cx="5103904" cy="1198311"/>
            </a:xfrm>
            <a:prstGeom prst="rect">
              <a:avLst/>
            </a:prstGeom>
          </p:spPr>
        </p:pic>
        <p:pic>
          <p:nvPicPr>
            <p:cNvPr id="21" name="object 5">
              <a:extLst>
                <a:ext uri="{FF2B5EF4-FFF2-40B4-BE49-F238E27FC236}">
                  <a16:creationId xmlns:a16="http://schemas.microsoft.com/office/drawing/2014/main" id="{1E1D7D39-3DAA-07F5-98F7-F8277FE96B7C}"/>
                </a:ext>
              </a:extLst>
            </p:cNvPr>
            <p:cNvPicPr/>
            <p:nvPr/>
          </p:nvPicPr>
          <p:blipFill>
            <a:blip r:embed="rId4" cstate="print"/>
            <a:stretch>
              <a:fillRect/>
            </a:stretch>
          </p:blipFill>
          <p:spPr>
            <a:xfrm>
              <a:off x="2703195" y="86439"/>
              <a:ext cx="4997767" cy="1092279"/>
            </a:xfrm>
            <a:prstGeom prst="rect">
              <a:avLst/>
            </a:prstGeom>
          </p:spPr>
        </p:pic>
        <p:pic>
          <p:nvPicPr>
            <p:cNvPr id="22" name="object 6">
              <a:extLst>
                <a:ext uri="{FF2B5EF4-FFF2-40B4-BE49-F238E27FC236}">
                  <a16:creationId xmlns:a16="http://schemas.microsoft.com/office/drawing/2014/main" id="{919FA06A-2BBB-D4E8-4EEE-E32A14EC077F}"/>
                </a:ext>
              </a:extLst>
            </p:cNvPr>
            <p:cNvPicPr/>
            <p:nvPr/>
          </p:nvPicPr>
          <p:blipFill>
            <a:blip r:embed="rId5" cstate="print"/>
            <a:stretch>
              <a:fillRect/>
            </a:stretch>
          </p:blipFill>
          <p:spPr>
            <a:xfrm>
              <a:off x="2828925" y="243549"/>
              <a:ext cx="4585268" cy="522565"/>
            </a:xfrm>
            <a:prstGeom prst="rect">
              <a:avLst/>
            </a:prstGeom>
          </p:spPr>
        </p:pic>
        <p:sp>
          <p:nvSpPr>
            <p:cNvPr id="23" name="object 7">
              <a:extLst>
                <a:ext uri="{FF2B5EF4-FFF2-40B4-BE49-F238E27FC236}">
                  <a16:creationId xmlns:a16="http://schemas.microsoft.com/office/drawing/2014/main" id="{AD776AB8-45DA-3904-7E63-CC95C082270A}"/>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2061"/>
            </a:p>
          </p:txBody>
        </p:sp>
      </p:grpSp>
      <p:sp>
        <p:nvSpPr>
          <p:cNvPr id="25" name="TextBox 24">
            <a:extLst>
              <a:ext uri="{FF2B5EF4-FFF2-40B4-BE49-F238E27FC236}">
                <a16:creationId xmlns:a16="http://schemas.microsoft.com/office/drawing/2014/main" id="{52CBC4C6-3091-F905-1B93-337F6CA6CB31}"/>
              </a:ext>
            </a:extLst>
          </p:cNvPr>
          <p:cNvSpPr txBox="1"/>
          <p:nvPr/>
        </p:nvSpPr>
        <p:spPr>
          <a:xfrm>
            <a:off x="4391783" y="308053"/>
            <a:ext cx="5181600" cy="421879"/>
          </a:xfrm>
          <a:prstGeom prst="rect">
            <a:avLst/>
          </a:prstGeom>
          <a:noFill/>
        </p:spPr>
        <p:txBody>
          <a:bodyPr wrap="square">
            <a:spAutoFit/>
          </a:bodyPr>
          <a:lstStyle/>
          <a:p>
            <a:pPr algn="ctr">
              <a:spcAft>
                <a:spcPts val="721"/>
              </a:spcAft>
              <a:defRPr sz="2200" b="1">
                <a:solidFill>
                  <a:srgbClr val="233464"/>
                </a:solidFill>
                <a:latin typeface="Aptos"/>
              </a:defRPr>
            </a:pPr>
            <a:r>
              <a:rPr lang="en-IN" sz="2061" dirty="0">
                <a:solidFill>
                  <a:schemeClr val="bg1"/>
                </a:solidFill>
                <a:latin typeface="Times New Roman" pitchFamily="18" charset="0"/>
                <a:cs typeface="Times New Roman" pitchFamily="18" charset="0"/>
              </a:rPr>
              <a:t>METHODOLOGY</a:t>
            </a:r>
          </a:p>
        </p:txBody>
      </p:sp>
      <p:pic>
        <p:nvPicPr>
          <p:cNvPr id="7" name="object 3">
            <a:extLst>
              <a:ext uri="{FF2B5EF4-FFF2-40B4-BE49-F238E27FC236}">
                <a16:creationId xmlns:a16="http://schemas.microsoft.com/office/drawing/2014/main" id="{1DE78A76-E63D-489C-28FF-3FCA08FC0445}"/>
              </a:ext>
            </a:extLst>
          </p:cNvPr>
          <p:cNvPicPr/>
          <p:nvPr/>
        </p:nvPicPr>
        <p:blipFill>
          <a:blip r:embed="rId6" cstate="print"/>
          <a:stretch>
            <a:fillRect/>
          </a:stretch>
        </p:blipFill>
        <p:spPr>
          <a:xfrm>
            <a:off x="431800" y="129116"/>
            <a:ext cx="1752600" cy="799233"/>
          </a:xfrm>
          <a:prstGeom prst="rect">
            <a:avLst/>
          </a:prstGeom>
        </p:spPr>
      </p:pic>
      <p:sp>
        <p:nvSpPr>
          <p:cNvPr id="2" name="TextBox 1">
            <a:extLst>
              <a:ext uri="{FF2B5EF4-FFF2-40B4-BE49-F238E27FC236}">
                <a16:creationId xmlns:a16="http://schemas.microsoft.com/office/drawing/2014/main" id="{842677FA-5E29-31BF-32D9-608C1F2D8D0B}"/>
              </a:ext>
            </a:extLst>
          </p:cNvPr>
          <p:cNvSpPr txBox="1"/>
          <p:nvPr/>
        </p:nvSpPr>
        <p:spPr>
          <a:xfrm>
            <a:off x="798916" y="1213076"/>
            <a:ext cx="4230645" cy="1200329"/>
          </a:xfrm>
          <a:prstGeom prst="rect">
            <a:avLst/>
          </a:prstGeom>
          <a:noFill/>
        </p:spPr>
        <p:txBody>
          <a:bodyPr wrap="none" rtlCol="0">
            <a:spAutoFit/>
          </a:bodyPr>
          <a:lstStyle/>
          <a:p>
            <a:r>
              <a:rPr lang="en-IN" sz="2400" b="1" dirty="0">
                <a:latin typeface="Times New Roman" panose="02020603050405020304" pitchFamily="18" charset="0"/>
                <a:cs typeface="Times New Roman" panose="02020603050405020304" pitchFamily="18" charset="0"/>
              </a:rPr>
              <a:t>Module 8 – Visualization</a:t>
            </a:r>
          </a:p>
          <a:p>
            <a:pPr lvl="0"/>
            <a:r>
              <a:rPr lang="en-IN" sz="2400" dirty="0">
                <a:latin typeface="Times New Roman" panose="02020603050405020304" pitchFamily="18" charset="0"/>
                <a:cs typeface="Times New Roman" panose="02020603050405020304" pitchFamily="18" charset="0"/>
              </a:rPr>
              <a:t>Create a bar chart for top artists. </a:t>
            </a:r>
          </a:p>
          <a:p>
            <a:r>
              <a:rPr lang="en-IN" sz="2400" b="1" dirty="0">
                <a:latin typeface="Times New Roman" panose="02020603050405020304" pitchFamily="18" charset="0"/>
                <a:cs typeface="Times New Roman" panose="02020603050405020304" pitchFamily="18" charset="0"/>
              </a:rPr>
              <a:t>Code:</a:t>
            </a:r>
          </a:p>
        </p:txBody>
      </p:sp>
      <p:pic>
        <p:nvPicPr>
          <p:cNvPr id="11" name="Picture 10">
            <a:extLst>
              <a:ext uri="{FF2B5EF4-FFF2-40B4-BE49-F238E27FC236}">
                <a16:creationId xmlns:a16="http://schemas.microsoft.com/office/drawing/2014/main" id="{943A5AF4-6452-2809-5A0E-F14C5C9226A3}"/>
              </a:ext>
            </a:extLst>
          </p:cNvPr>
          <p:cNvPicPr>
            <a:picLocks noChangeAspect="1"/>
          </p:cNvPicPr>
          <p:nvPr/>
        </p:nvPicPr>
        <p:blipFill>
          <a:blip r:embed="rId7"/>
          <a:stretch>
            <a:fillRect/>
          </a:stretch>
        </p:blipFill>
        <p:spPr>
          <a:xfrm>
            <a:off x="994064" y="2698132"/>
            <a:ext cx="5691399" cy="3048000"/>
          </a:xfrm>
          <a:prstGeom prst="rect">
            <a:avLst/>
          </a:prstGeom>
        </p:spPr>
      </p:pic>
      <p:pic>
        <p:nvPicPr>
          <p:cNvPr id="15" name="Picture 14">
            <a:extLst>
              <a:ext uri="{FF2B5EF4-FFF2-40B4-BE49-F238E27FC236}">
                <a16:creationId xmlns:a16="http://schemas.microsoft.com/office/drawing/2014/main" id="{BEC4D7F4-4BB8-55C0-2F58-13BF5F1C3BA9}"/>
              </a:ext>
            </a:extLst>
          </p:cNvPr>
          <p:cNvPicPr>
            <a:picLocks noChangeAspect="1"/>
          </p:cNvPicPr>
          <p:nvPr/>
        </p:nvPicPr>
        <p:blipFill>
          <a:blip r:embed="rId8"/>
          <a:stretch>
            <a:fillRect/>
          </a:stretch>
        </p:blipFill>
        <p:spPr>
          <a:xfrm>
            <a:off x="7132138" y="1213077"/>
            <a:ext cx="6406061" cy="5340124"/>
          </a:xfrm>
          <a:prstGeom prst="rect">
            <a:avLst/>
          </a:prstGeom>
        </p:spPr>
      </p:pic>
    </p:spTree>
    <p:extLst>
      <p:ext uri="{BB962C8B-B14F-4D97-AF65-F5344CB8AC3E}">
        <p14:creationId xmlns:p14="http://schemas.microsoft.com/office/powerpoint/2010/main" val="1015909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B1643-69BC-0B17-25CA-666DA9F7B8F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C9F5728-53A2-B776-4265-0F6CAA0151D3}"/>
              </a:ext>
            </a:extLst>
          </p:cNvPr>
          <p:cNvSpPr txBox="1"/>
          <p:nvPr/>
        </p:nvSpPr>
        <p:spPr>
          <a:xfrm>
            <a:off x="4215205" y="332945"/>
            <a:ext cx="5275811" cy="421879"/>
          </a:xfrm>
          <a:prstGeom prst="rect">
            <a:avLst/>
          </a:prstGeom>
          <a:noFill/>
        </p:spPr>
        <p:txBody>
          <a:bodyPr wrap="square">
            <a:spAutoFit/>
          </a:bodyPr>
          <a:lstStyle/>
          <a:p>
            <a:pPr algn="ctr">
              <a:spcAft>
                <a:spcPts val="721"/>
              </a:spcAft>
              <a:defRPr sz="2200" b="1">
                <a:solidFill>
                  <a:srgbClr val="233464"/>
                </a:solidFill>
                <a:latin typeface="Aptos"/>
              </a:defRPr>
            </a:pPr>
            <a:r>
              <a:rPr sz="2061" dirty="0">
                <a:solidFill>
                  <a:schemeClr val="bg1"/>
                </a:solidFill>
                <a:latin typeface="Times New Roman" pitchFamily="18" charset="0"/>
                <a:cs typeface="Times New Roman" pitchFamily="18" charset="0"/>
              </a:rPr>
              <a:t>METHODOLOGY</a:t>
            </a:r>
          </a:p>
        </p:txBody>
      </p:sp>
      <p:grpSp>
        <p:nvGrpSpPr>
          <p:cNvPr id="4" name="object 3">
            <a:extLst>
              <a:ext uri="{FF2B5EF4-FFF2-40B4-BE49-F238E27FC236}">
                <a16:creationId xmlns:a16="http://schemas.microsoft.com/office/drawing/2014/main" id="{AD4FBABF-4E90-B1F8-9686-04FC15F00FBF}"/>
              </a:ext>
            </a:extLst>
          </p:cNvPr>
          <p:cNvGrpSpPr/>
          <p:nvPr/>
        </p:nvGrpSpPr>
        <p:grpSpPr>
          <a:xfrm>
            <a:off x="4396509" y="48218"/>
            <a:ext cx="5258568" cy="1234623"/>
            <a:chOff x="2648188" y="47148"/>
            <a:chExt cx="5103904" cy="1198311"/>
          </a:xfrm>
        </p:grpSpPr>
        <p:pic>
          <p:nvPicPr>
            <p:cNvPr id="10" name="object 4">
              <a:extLst>
                <a:ext uri="{FF2B5EF4-FFF2-40B4-BE49-F238E27FC236}">
                  <a16:creationId xmlns:a16="http://schemas.microsoft.com/office/drawing/2014/main" id="{B2FD543E-93BD-0C16-9BCF-3F5C67A44E9D}"/>
                </a:ext>
              </a:extLst>
            </p:cNvPr>
            <p:cNvPicPr/>
            <p:nvPr/>
          </p:nvPicPr>
          <p:blipFill>
            <a:blip r:embed="rId3" cstate="print"/>
            <a:stretch>
              <a:fillRect/>
            </a:stretch>
          </p:blipFill>
          <p:spPr>
            <a:xfrm>
              <a:off x="2648188" y="47148"/>
              <a:ext cx="5103904" cy="1198311"/>
            </a:xfrm>
            <a:prstGeom prst="rect">
              <a:avLst/>
            </a:prstGeom>
          </p:spPr>
        </p:pic>
        <p:pic>
          <p:nvPicPr>
            <p:cNvPr id="21" name="object 5">
              <a:extLst>
                <a:ext uri="{FF2B5EF4-FFF2-40B4-BE49-F238E27FC236}">
                  <a16:creationId xmlns:a16="http://schemas.microsoft.com/office/drawing/2014/main" id="{F0C37356-A972-EDCF-3F4E-C08F47C3167C}"/>
                </a:ext>
              </a:extLst>
            </p:cNvPr>
            <p:cNvPicPr/>
            <p:nvPr/>
          </p:nvPicPr>
          <p:blipFill>
            <a:blip r:embed="rId4" cstate="print"/>
            <a:stretch>
              <a:fillRect/>
            </a:stretch>
          </p:blipFill>
          <p:spPr>
            <a:xfrm>
              <a:off x="2703195" y="86439"/>
              <a:ext cx="4997767" cy="1092279"/>
            </a:xfrm>
            <a:prstGeom prst="rect">
              <a:avLst/>
            </a:prstGeom>
          </p:spPr>
        </p:pic>
        <p:pic>
          <p:nvPicPr>
            <p:cNvPr id="22" name="object 6">
              <a:extLst>
                <a:ext uri="{FF2B5EF4-FFF2-40B4-BE49-F238E27FC236}">
                  <a16:creationId xmlns:a16="http://schemas.microsoft.com/office/drawing/2014/main" id="{AD6D5DEB-BED0-8C60-2864-BEDCADC8DFC5}"/>
                </a:ext>
              </a:extLst>
            </p:cNvPr>
            <p:cNvPicPr/>
            <p:nvPr/>
          </p:nvPicPr>
          <p:blipFill>
            <a:blip r:embed="rId5" cstate="print"/>
            <a:stretch>
              <a:fillRect/>
            </a:stretch>
          </p:blipFill>
          <p:spPr>
            <a:xfrm>
              <a:off x="2828925" y="243549"/>
              <a:ext cx="4585268" cy="522565"/>
            </a:xfrm>
            <a:prstGeom prst="rect">
              <a:avLst/>
            </a:prstGeom>
          </p:spPr>
        </p:pic>
        <p:sp>
          <p:nvSpPr>
            <p:cNvPr id="23" name="object 7">
              <a:extLst>
                <a:ext uri="{FF2B5EF4-FFF2-40B4-BE49-F238E27FC236}">
                  <a16:creationId xmlns:a16="http://schemas.microsoft.com/office/drawing/2014/main" id="{89C500FF-9497-E014-892E-682413F47C6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2061"/>
            </a:p>
          </p:txBody>
        </p:sp>
      </p:grpSp>
      <p:sp>
        <p:nvSpPr>
          <p:cNvPr id="25" name="TextBox 24">
            <a:extLst>
              <a:ext uri="{FF2B5EF4-FFF2-40B4-BE49-F238E27FC236}">
                <a16:creationId xmlns:a16="http://schemas.microsoft.com/office/drawing/2014/main" id="{49CB43B9-5287-1E33-E289-7C730EE54552}"/>
              </a:ext>
            </a:extLst>
          </p:cNvPr>
          <p:cNvSpPr txBox="1"/>
          <p:nvPr/>
        </p:nvSpPr>
        <p:spPr>
          <a:xfrm>
            <a:off x="4391783" y="308053"/>
            <a:ext cx="5181600" cy="421879"/>
          </a:xfrm>
          <a:prstGeom prst="rect">
            <a:avLst/>
          </a:prstGeom>
          <a:noFill/>
        </p:spPr>
        <p:txBody>
          <a:bodyPr wrap="square">
            <a:spAutoFit/>
          </a:bodyPr>
          <a:lstStyle/>
          <a:p>
            <a:pPr algn="ctr">
              <a:spcAft>
                <a:spcPts val="721"/>
              </a:spcAft>
              <a:defRPr sz="2200" b="1">
                <a:solidFill>
                  <a:srgbClr val="233464"/>
                </a:solidFill>
                <a:latin typeface="Aptos"/>
              </a:defRPr>
            </a:pPr>
            <a:r>
              <a:rPr lang="en-IN" sz="2061" dirty="0">
                <a:solidFill>
                  <a:schemeClr val="bg1"/>
                </a:solidFill>
                <a:latin typeface="Times New Roman" pitchFamily="18" charset="0"/>
                <a:cs typeface="Times New Roman" pitchFamily="18" charset="0"/>
              </a:rPr>
              <a:t>METHODOLOGY</a:t>
            </a:r>
          </a:p>
        </p:txBody>
      </p:sp>
      <p:pic>
        <p:nvPicPr>
          <p:cNvPr id="7" name="object 3">
            <a:extLst>
              <a:ext uri="{FF2B5EF4-FFF2-40B4-BE49-F238E27FC236}">
                <a16:creationId xmlns:a16="http://schemas.microsoft.com/office/drawing/2014/main" id="{8B79E8C3-3149-DDF5-20BA-8086D6D84179}"/>
              </a:ext>
            </a:extLst>
          </p:cNvPr>
          <p:cNvPicPr/>
          <p:nvPr/>
        </p:nvPicPr>
        <p:blipFill>
          <a:blip r:embed="rId6" cstate="print"/>
          <a:stretch>
            <a:fillRect/>
          </a:stretch>
        </p:blipFill>
        <p:spPr>
          <a:xfrm>
            <a:off x="431800" y="129116"/>
            <a:ext cx="1752600" cy="799233"/>
          </a:xfrm>
          <a:prstGeom prst="rect">
            <a:avLst/>
          </a:prstGeom>
        </p:spPr>
      </p:pic>
      <p:pic>
        <p:nvPicPr>
          <p:cNvPr id="8" name="Picture 7">
            <a:extLst>
              <a:ext uri="{FF2B5EF4-FFF2-40B4-BE49-F238E27FC236}">
                <a16:creationId xmlns:a16="http://schemas.microsoft.com/office/drawing/2014/main" id="{0282E137-A736-30B0-0D6F-D4ECE2CA7EDF}"/>
              </a:ext>
            </a:extLst>
          </p:cNvPr>
          <p:cNvPicPr>
            <a:picLocks noChangeAspect="1"/>
          </p:cNvPicPr>
          <p:nvPr/>
        </p:nvPicPr>
        <p:blipFill>
          <a:blip r:embed="rId7"/>
          <a:stretch>
            <a:fillRect/>
          </a:stretch>
        </p:blipFill>
        <p:spPr>
          <a:xfrm>
            <a:off x="737615" y="2010788"/>
            <a:ext cx="6485037" cy="3466546"/>
          </a:xfrm>
          <a:prstGeom prst="rect">
            <a:avLst/>
          </a:prstGeom>
        </p:spPr>
      </p:pic>
      <p:pic>
        <p:nvPicPr>
          <p:cNvPr id="13" name="Picture 12">
            <a:extLst>
              <a:ext uri="{FF2B5EF4-FFF2-40B4-BE49-F238E27FC236}">
                <a16:creationId xmlns:a16="http://schemas.microsoft.com/office/drawing/2014/main" id="{64001294-8E77-8F7D-1D67-57B211F532E2}"/>
              </a:ext>
            </a:extLst>
          </p:cNvPr>
          <p:cNvPicPr>
            <a:picLocks noChangeAspect="1"/>
          </p:cNvPicPr>
          <p:nvPr/>
        </p:nvPicPr>
        <p:blipFill>
          <a:blip r:embed="rId8"/>
          <a:stretch>
            <a:fillRect/>
          </a:stretch>
        </p:blipFill>
        <p:spPr>
          <a:xfrm>
            <a:off x="7025793" y="1071838"/>
            <a:ext cx="5887272" cy="5572903"/>
          </a:xfrm>
          <a:prstGeom prst="rect">
            <a:avLst/>
          </a:prstGeom>
        </p:spPr>
      </p:pic>
      <p:sp>
        <p:nvSpPr>
          <p:cNvPr id="5" name="TextBox 4">
            <a:extLst>
              <a:ext uri="{FF2B5EF4-FFF2-40B4-BE49-F238E27FC236}">
                <a16:creationId xmlns:a16="http://schemas.microsoft.com/office/drawing/2014/main" id="{EE042877-0A87-4A50-D06D-180E68EE20A6}"/>
              </a:ext>
            </a:extLst>
          </p:cNvPr>
          <p:cNvSpPr txBox="1"/>
          <p:nvPr/>
        </p:nvSpPr>
        <p:spPr>
          <a:xfrm>
            <a:off x="737615" y="1293586"/>
            <a:ext cx="6908180" cy="461665"/>
          </a:xfrm>
          <a:prstGeom prst="rect">
            <a:avLst/>
          </a:prstGeom>
          <a:noFill/>
        </p:spPr>
        <p:txBody>
          <a:bodyPr wrap="square">
            <a:spAutoFit/>
          </a:bodyPr>
          <a:lstStyle/>
          <a:p>
            <a:pPr lvl="0"/>
            <a:r>
              <a:rPr lang="en-IN" sz="2400" dirty="0">
                <a:latin typeface="Times New Roman" panose="02020603050405020304" pitchFamily="18" charset="0"/>
                <a:cs typeface="Times New Roman" panose="02020603050405020304" pitchFamily="18" charset="0"/>
              </a:rPr>
              <a:t>Create a pie chart for genre distribution. </a:t>
            </a:r>
          </a:p>
        </p:txBody>
      </p:sp>
    </p:spTree>
    <p:extLst>
      <p:ext uri="{BB962C8B-B14F-4D97-AF65-F5344CB8AC3E}">
        <p14:creationId xmlns:p14="http://schemas.microsoft.com/office/powerpoint/2010/main" val="23762400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B6F9B-A0AC-5C54-EC88-5226DCB3498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316D454-283F-B6CC-D13D-2CEDC9F65AF5}"/>
              </a:ext>
            </a:extLst>
          </p:cNvPr>
          <p:cNvSpPr txBox="1"/>
          <p:nvPr/>
        </p:nvSpPr>
        <p:spPr>
          <a:xfrm>
            <a:off x="4215205" y="332945"/>
            <a:ext cx="5275811" cy="421879"/>
          </a:xfrm>
          <a:prstGeom prst="rect">
            <a:avLst/>
          </a:prstGeom>
          <a:noFill/>
        </p:spPr>
        <p:txBody>
          <a:bodyPr wrap="square">
            <a:spAutoFit/>
          </a:bodyPr>
          <a:lstStyle/>
          <a:p>
            <a:pPr algn="ctr">
              <a:spcAft>
                <a:spcPts val="721"/>
              </a:spcAft>
              <a:defRPr sz="2200" b="1">
                <a:solidFill>
                  <a:srgbClr val="233464"/>
                </a:solidFill>
                <a:latin typeface="Aptos"/>
              </a:defRPr>
            </a:pPr>
            <a:r>
              <a:rPr sz="2061" dirty="0">
                <a:solidFill>
                  <a:schemeClr val="bg1"/>
                </a:solidFill>
                <a:latin typeface="Times New Roman" pitchFamily="18" charset="0"/>
                <a:cs typeface="Times New Roman" pitchFamily="18" charset="0"/>
              </a:rPr>
              <a:t>METHODOLOGY</a:t>
            </a:r>
          </a:p>
        </p:txBody>
      </p:sp>
      <p:grpSp>
        <p:nvGrpSpPr>
          <p:cNvPr id="4" name="object 3">
            <a:extLst>
              <a:ext uri="{FF2B5EF4-FFF2-40B4-BE49-F238E27FC236}">
                <a16:creationId xmlns:a16="http://schemas.microsoft.com/office/drawing/2014/main" id="{6D1DBA85-2909-1917-967A-55BB7E2848CA}"/>
              </a:ext>
            </a:extLst>
          </p:cNvPr>
          <p:cNvGrpSpPr/>
          <p:nvPr/>
        </p:nvGrpSpPr>
        <p:grpSpPr>
          <a:xfrm>
            <a:off x="4396509" y="48218"/>
            <a:ext cx="5258568" cy="1234623"/>
            <a:chOff x="2648188" y="47148"/>
            <a:chExt cx="5103904" cy="1198311"/>
          </a:xfrm>
        </p:grpSpPr>
        <p:pic>
          <p:nvPicPr>
            <p:cNvPr id="10" name="object 4">
              <a:extLst>
                <a:ext uri="{FF2B5EF4-FFF2-40B4-BE49-F238E27FC236}">
                  <a16:creationId xmlns:a16="http://schemas.microsoft.com/office/drawing/2014/main" id="{49A45CB9-8220-A9EE-4B62-B0EE6D433381}"/>
                </a:ext>
              </a:extLst>
            </p:cNvPr>
            <p:cNvPicPr/>
            <p:nvPr/>
          </p:nvPicPr>
          <p:blipFill>
            <a:blip r:embed="rId3" cstate="print"/>
            <a:stretch>
              <a:fillRect/>
            </a:stretch>
          </p:blipFill>
          <p:spPr>
            <a:xfrm>
              <a:off x="2648188" y="47148"/>
              <a:ext cx="5103904" cy="1198311"/>
            </a:xfrm>
            <a:prstGeom prst="rect">
              <a:avLst/>
            </a:prstGeom>
          </p:spPr>
        </p:pic>
        <p:pic>
          <p:nvPicPr>
            <p:cNvPr id="21" name="object 5">
              <a:extLst>
                <a:ext uri="{FF2B5EF4-FFF2-40B4-BE49-F238E27FC236}">
                  <a16:creationId xmlns:a16="http://schemas.microsoft.com/office/drawing/2014/main" id="{C4BB06B6-2574-12E1-0BC1-80143D8B20E7}"/>
                </a:ext>
              </a:extLst>
            </p:cNvPr>
            <p:cNvPicPr/>
            <p:nvPr/>
          </p:nvPicPr>
          <p:blipFill>
            <a:blip r:embed="rId4" cstate="print"/>
            <a:stretch>
              <a:fillRect/>
            </a:stretch>
          </p:blipFill>
          <p:spPr>
            <a:xfrm>
              <a:off x="2703195" y="86439"/>
              <a:ext cx="4997767" cy="1092279"/>
            </a:xfrm>
            <a:prstGeom prst="rect">
              <a:avLst/>
            </a:prstGeom>
          </p:spPr>
        </p:pic>
        <p:pic>
          <p:nvPicPr>
            <p:cNvPr id="22" name="object 6">
              <a:extLst>
                <a:ext uri="{FF2B5EF4-FFF2-40B4-BE49-F238E27FC236}">
                  <a16:creationId xmlns:a16="http://schemas.microsoft.com/office/drawing/2014/main" id="{4CD36E48-2F38-A423-B9C0-7A265E39B0ED}"/>
                </a:ext>
              </a:extLst>
            </p:cNvPr>
            <p:cNvPicPr/>
            <p:nvPr/>
          </p:nvPicPr>
          <p:blipFill>
            <a:blip r:embed="rId5" cstate="print"/>
            <a:stretch>
              <a:fillRect/>
            </a:stretch>
          </p:blipFill>
          <p:spPr>
            <a:xfrm>
              <a:off x="2828925" y="243549"/>
              <a:ext cx="4585268" cy="522565"/>
            </a:xfrm>
            <a:prstGeom prst="rect">
              <a:avLst/>
            </a:prstGeom>
          </p:spPr>
        </p:pic>
        <p:sp>
          <p:nvSpPr>
            <p:cNvPr id="23" name="object 7">
              <a:extLst>
                <a:ext uri="{FF2B5EF4-FFF2-40B4-BE49-F238E27FC236}">
                  <a16:creationId xmlns:a16="http://schemas.microsoft.com/office/drawing/2014/main" id="{C9B0E588-B9C6-081D-565E-2B7A5B0C5DF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2061"/>
            </a:p>
          </p:txBody>
        </p:sp>
      </p:grpSp>
      <p:sp>
        <p:nvSpPr>
          <p:cNvPr id="25" name="TextBox 24">
            <a:extLst>
              <a:ext uri="{FF2B5EF4-FFF2-40B4-BE49-F238E27FC236}">
                <a16:creationId xmlns:a16="http://schemas.microsoft.com/office/drawing/2014/main" id="{EC087978-012D-5422-6BBD-E36A8016415B}"/>
              </a:ext>
            </a:extLst>
          </p:cNvPr>
          <p:cNvSpPr txBox="1"/>
          <p:nvPr/>
        </p:nvSpPr>
        <p:spPr>
          <a:xfrm>
            <a:off x="4391783" y="308053"/>
            <a:ext cx="5181600" cy="421879"/>
          </a:xfrm>
          <a:prstGeom prst="rect">
            <a:avLst/>
          </a:prstGeom>
          <a:noFill/>
        </p:spPr>
        <p:txBody>
          <a:bodyPr wrap="square">
            <a:spAutoFit/>
          </a:bodyPr>
          <a:lstStyle/>
          <a:p>
            <a:pPr algn="ctr">
              <a:spcAft>
                <a:spcPts val="721"/>
              </a:spcAft>
              <a:defRPr sz="2200" b="1">
                <a:solidFill>
                  <a:srgbClr val="233464"/>
                </a:solidFill>
                <a:latin typeface="Aptos"/>
              </a:defRPr>
            </a:pPr>
            <a:r>
              <a:rPr lang="en-IN" sz="2061" dirty="0">
                <a:solidFill>
                  <a:schemeClr val="bg1"/>
                </a:solidFill>
                <a:latin typeface="Times New Roman" pitchFamily="18" charset="0"/>
                <a:cs typeface="Times New Roman" pitchFamily="18" charset="0"/>
              </a:rPr>
              <a:t>METHODOLOGY</a:t>
            </a:r>
          </a:p>
        </p:txBody>
      </p:sp>
      <p:pic>
        <p:nvPicPr>
          <p:cNvPr id="7" name="object 3">
            <a:extLst>
              <a:ext uri="{FF2B5EF4-FFF2-40B4-BE49-F238E27FC236}">
                <a16:creationId xmlns:a16="http://schemas.microsoft.com/office/drawing/2014/main" id="{20836343-45B5-AFF9-9D46-3AF689E2A1C3}"/>
              </a:ext>
            </a:extLst>
          </p:cNvPr>
          <p:cNvPicPr/>
          <p:nvPr/>
        </p:nvPicPr>
        <p:blipFill>
          <a:blip r:embed="rId6" cstate="print"/>
          <a:stretch>
            <a:fillRect/>
          </a:stretch>
        </p:blipFill>
        <p:spPr>
          <a:xfrm>
            <a:off x="431800" y="129116"/>
            <a:ext cx="1752600" cy="799233"/>
          </a:xfrm>
          <a:prstGeom prst="rect">
            <a:avLst/>
          </a:prstGeom>
        </p:spPr>
      </p:pic>
      <p:pic>
        <p:nvPicPr>
          <p:cNvPr id="6" name="Picture 5">
            <a:extLst>
              <a:ext uri="{FF2B5EF4-FFF2-40B4-BE49-F238E27FC236}">
                <a16:creationId xmlns:a16="http://schemas.microsoft.com/office/drawing/2014/main" id="{3CC6E487-AA12-3F2C-0A20-7A65A855029F}"/>
              </a:ext>
            </a:extLst>
          </p:cNvPr>
          <p:cNvPicPr>
            <a:picLocks noChangeAspect="1"/>
          </p:cNvPicPr>
          <p:nvPr/>
        </p:nvPicPr>
        <p:blipFill>
          <a:blip r:embed="rId7"/>
          <a:stretch>
            <a:fillRect/>
          </a:stretch>
        </p:blipFill>
        <p:spPr>
          <a:xfrm>
            <a:off x="1117600" y="1922919"/>
            <a:ext cx="4785942" cy="4097766"/>
          </a:xfrm>
          <a:prstGeom prst="rect">
            <a:avLst/>
          </a:prstGeom>
        </p:spPr>
      </p:pic>
      <p:pic>
        <p:nvPicPr>
          <p:cNvPr id="12" name="Picture 11">
            <a:extLst>
              <a:ext uri="{FF2B5EF4-FFF2-40B4-BE49-F238E27FC236}">
                <a16:creationId xmlns:a16="http://schemas.microsoft.com/office/drawing/2014/main" id="{274B314A-57C1-AB6F-1D15-1703BE79FEEA}"/>
              </a:ext>
            </a:extLst>
          </p:cNvPr>
          <p:cNvPicPr>
            <a:picLocks noChangeAspect="1"/>
          </p:cNvPicPr>
          <p:nvPr/>
        </p:nvPicPr>
        <p:blipFill>
          <a:blip r:embed="rId8"/>
          <a:stretch>
            <a:fillRect/>
          </a:stretch>
        </p:blipFill>
        <p:spPr>
          <a:xfrm>
            <a:off x="5903542" y="1602880"/>
            <a:ext cx="7440669" cy="4097766"/>
          </a:xfrm>
          <a:prstGeom prst="rect">
            <a:avLst/>
          </a:prstGeom>
        </p:spPr>
      </p:pic>
      <p:sp>
        <p:nvSpPr>
          <p:cNvPr id="5" name="TextBox 4">
            <a:extLst>
              <a:ext uri="{FF2B5EF4-FFF2-40B4-BE49-F238E27FC236}">
                <a16:creationId xmlns:a16="http://schemas.microsoft.com/office/drawing/2014/main" id="{6CBE7EB7-51C1-CEDF-E1EC-1292B760FF1A}"/>
              </a:ext>
            </a:extLst>
          </p:cNvPr>
          <p:cNvSpPr txBox="1"/>
          <p:nvPr/>
        </p:nvSpPr>
        <p:spPr>
          <a:xfrm>
            <a:off x="1117600" y="1247254"/>
            <a:ext cx="6908180" cy="461665"/>
          </a:xfrm>
          <a:prstGeom prst="rect">
            <a:avLst/>
          </a:prstGeom>
          <a:noFill/>
        </p:spPr>
        <p:txBody>
          <a:bodyPr wrap="square">
            <a:spAutoFit/>
          </a:bodyPr>
          <a:lstStyle/>
          <a:p>
            <a:pPr lvl="0"/>
            <a:r>
              <a:rPr lang="en-IN" sz="2400" dirty="0">
                <a:latin typeface="Times New Roman" panose="02020603050405020304" pitchFamily="18" charset="0"/>
                <a:cs typeface="Times New Roman" panose="02020603050405020304" pitchFamily="18" charset="0"/>
              </a:rPr>
              <a:t>Create a line chart for listening behaviour.</a:t>
            </a:r>
          </a:p>
        </p:txBody>
      </p:sp>
    </p:spTree>
    <p:extLst>
      <p:ext uri="{BB962C8B-B14F-4D97-AF65-F5344CB8AC3E}">
        <p14:creationId xmlns:p14="http://schemas.microsoft.com/office/powerpoint/2010/main" val="37620701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D26E0863-A3EE-1EC4-F128-4D4F1A60D3A0}"/>
              </a:ext>
            </a:extLst>
          </p:cNvPr>
          <p:cNvGrpSpPr/>
          <p:nvPr/>
        </p:nvGrpSpPr>
        <p:grpSpPr>
          <a:xfrm>
            <a:off x="4396509" y="-117763"/>
            <a:ext cx="5258568" cy="1234623"/>
            <a:chOff x="2648188" y="47148"/>
            <a:chExt cx="5103904" cy="1198311"/>
          </a:xfrm>
        </p:grpSpPr>
        <p:pic>
          <p:nvPicPr>
            <p:cNvPr id="5" name="object 4">
              <a:extLst>
                <a:ext uri="{FF2B5EF4-FFF2-40B4-BE49-F238E27FC236}">
                  <a16:creationId xmlns:a16="http://schemas.microsoft.com/office/drawing/2014/main" id="{77890B8C-7EC3-B7B1-BF56-4F5DE13755D4}"/>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E9CC3DEB-E45E-85F9-CD38-C2C4966FBC30}"/>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4C3D8E05-12DF-F9A5-1AF2-87C24DA53BBC}"/>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EF5B48B8-D150-0E57-59D0-4E3B78C2948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solidFill>
                    <a:schemeClr val="bg1"/>
                  </a:solidFill>
                  <a:latin typeface="Times New Roman" panose="02020603050405020304" pitchFamily="18" charset="0"/>
                  <a:cs typeface="Times New Roman" panose="02020603050405020304" pitchFamily="18" charset="0"/>
                </a:rPr>
                <a:t>                       </a:t>
              </a:r>
              <a:endParaRPr sz="2061" b="1" dirty="0">
                <a:solidFill>
                  <a:schemeClr val="bg1"/>
                </a:solidFill>
                <a:latin typeface="Times New Roman" panose="02020603050405020304" pitchFamily="18" charset="0"/>
                <a:cs typeface="Times New Roman" panose="02020603050405020304" pitchFamily="18" charset="0"/>
              </a:endParaRPr>
            </a:p>
          </p:txBody>
        </p:sp>
      </p:grpSp>
      <p:sp>
        <p:nvSpPr>
          <p:cNvPr id="9" name="TextBox 8"/>
          <p:cNvSpPr txBox="1"/>
          <p:nvPr/>
        </p:nvSpPr>
        <p:spPr>
          <a:xfrm>
            <a:off x="5260109" y="39257"/>
            <a:ext cx="3364968" cy="879301"/>
          </a:xfrm>
          <a:prstGeom prst="rect">
            <a:avLst/>
          </a:prstGeom>
          <a:noFill/>
        </p:spPr>
        <p:txBody>
          <a:bodyPr wrap="square" rtlCol="0">
            <a:spAutoFit/>
          </a:bodyPr>
          <a:lstStyle/>
          <a:p>
            <a:pPr algn="ctr"/>
            <a:r>
              <a:rPr lang="en-IN" sz="2473" dirty="0">
                <a:solidFill>
                  <a:schemeClr val="bg1"/>
                </a:solidFill>
                <a:latin typeface="Times New Roman" pitchFamily="18" charset="0"/>
                <a:cs typeface="Times New Roman" pitchFamily="18" charset="0"/>
              </a:rPr>
              <a:t>Output Screens</a:t>
            </a:r>
          </a:p>
          <a:p>
            <a:endParaRPr lang="en-US" sz="2473" dirty="0"/>
          </a:p>
        </p:txBody>
      </p:sp>
      <p:pic>
        <p:nvPicPr>
          <p:cNvPr id="10" name="Picture 9">
            <a:extLst>
              <a:ext uri="{FF2B5EF4-FFF2-40B4-BE49-F238E27FC236}">
                <a16:creationId xmlns:a16="http://schemas.microsoft.com/office/drawing/2014/main" id="{4043227A-10D8-3D74-5743-4AC510662974}"/>
              </a:ext>
            </a:extLst>
          </p:cNvPr>
          <p:cNvPicPr>
            <a:picLocks noChangeAspect="1"/>
          </p:cNvPicPr>
          <p:nvPr/>
        </p:nvPicPr>
        <p:blipFill>
          <a:blip r:embed="rId5"/>
          <a:stretch>
            <a:fillRect/>
          </a:stretch>
        </p:blipFill>
        <p:spPr>
          <a:xfrm>
            <a:off x="508000" y="273280"/>
            <a:ext cx="1467055" cy="562053"/>
          </a:xfrm>
          <a:prstGeom prst="rect">
            <a:avLst/>
          </a:prstGeom>
        </p:spPr>
      </p:pic>
      <p:pic>
        <p:nvPicPr>
          <p:cNvPr id="23" name="Picture 22">
            <a:extLst>
              <a:ext uri="{FF2B5EF4-FFF2-40B4-BE49-F238E27FC236}">
                <a16:creationId xmlns:a16="http://schemas.microsoft.com/office/drawing/2014/main" id="{62266033-98EB-250B-2140-59DD38635728}"/>
              </a:ext>
            </a:extLst>
          </p:cNvPr>
          <p:cNvPicPr>
            <a:picLocks noChangeAspect="1"/>
          </p:cNvPicPr>
          <p:nvPr/>
        </p:nvPicPr>
        <p:blipFill>
          <a:blip r:embed="rId6"/>
          <a:stretch>
            <a:fillRect/>
          </a:stretch>
        </p:blipFill>
        <p:spPr>
          <a:xfrm>
            <a:off x="1117600" y="1524000"/>
            <a:ext cx="1943371" cy="342948"/>
          </a:xfrm>
          <a:prstGeom prst="rect">
            <a:avLst/>
          </a:prstGeom>
        </p:spPr>
      </p:pic>
      <p:pic>
        <p:nvPicPr>
          <p:cNvPr id="25" name="Picture 24">
            <a:extLst>
              <a:ext uri="{FF2B5EF4-FFF2-40B4-BE49-F238E27FC236}">
                <a16:creationId xmlns:a16="http://schemas.microsoft.com/office/drawing/2014/main" id="{0A3DA889-6BA3-F57E-85D3-7D0028A2B24F}"/>
              </a:ext>
            </a:extLst>
          </p:cNvPr>
          <p:cNvPicPr>
            <a:picLocks noChangeAspect="1"/>
          </p:cNvPicPr>
          <p:nvPr/>
        </p:nvPicPr>
        <p:blipFill>
          <a:blip r:embed="rId7"/>
          <a:stretch>
            <a:fillRect/>
          </a:stretch>
        </p:blipFill>
        <p:spPr>
          <a:xfrm>
            <a:off x="1117600" y="2133600"/>
            <a:ext cx="5068007" cy="3886742"/>
          </a:xfrm>
          <a:prstGeom prst="rect">
            <a:avLst/>
          </a:prstGeom>
        </p:spPr>
      </p:pic>
      <p:pic>
        <p:nvPicPr>
          <p:cNvPr id="27" name="Picture 26">
            <a:extLst>
              <a:ext uri="{FF2B5EF4-FFF2-40B4-BE49-F238E27FC236}">
                <a16:creationId xmlns:a16="http://schemas.microsoft.com/office/drawing/2014/main" id="{A65E82FC-9968-DCCE-2109-81EE78D44720}"/>
              </a:ext>
            </a:extLst>
          </p:cNvPr>
          <p:cNvPicPr>
            <a:picLocks noChangeAspect="1"/>
          </p:cNvPicPr>
          <p:nvPr/>
        </p:nvPicPr>
        <p:blipFill>
          <a:blip r:embed="rId8"/>
          <a:stretch>
            <a:fillRect/>
          </a:stretch>
        </p:blipFill>
        <p:spPr>
          <a:xfrm>
            <a:off x="7289602" y="1545027"/>
            <a:ext cx="2029108" cy="323895"/>
          </a:xfrm>
          <a:prstGeom prst="rect">
            <a:avLst/>
          </a:prstGeom>
        </p:spPr>
      </p:pic>
      <p:pic>
        <p:nvPicPr>
          <p:cNvPr id="29" name="Picture 28">
            <a:extLst>
              <a:ext uri="{FF2B5EF4-FFF2-40B4-BE49-F238E27FC236}">
                <a16:creationId xmlns:a16="http://schemas.microsoft.com/office/drawing/2014/main" id="{7E9798CA-BE59-CA3C-CB47-544F1C8FC756}"/>
              </a:ext>
            </a:extLst>
          </p:cNvPr>
          <p:cNvPicPr>
            <a:picLocks noChangeAspect="1"/>
          </p:cNvPicPr>
          <p:nvPr/>
        </p:nvPicPr>
        <p:blipFill>
          <a:blip r:embed="rId9"/>
          <a:stretch>
            <a:fillRect/>
          </a:stretch>
        </p:blipFill>
        <p:spPr>
          <a:xfrm>
            <a:off x="7322850" y="2107580"/>
            <a:ext cx="5858609" cy="388674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3">
            <a:extLst>
              <a:ext uri="{FF2B5EF4-FFF2-40B4-BE49-F238E27FC236}">
                <a16:creationId xmlns:a16="http://schemas.microsoft.com/office/drawing/2014/main" id="{67ACC245-70D9-3E8C-5FB8-754CFCF29BA7}"/>
              </a:ext>
            </a:extLst>
          </p:cNvPr>
          <p:cNvGrpSpPr/>
          <p:nvPr/>
        </p:nvGrpSpPr>
        <p:grpSpPr>
          <a:xfrm>
            <a:off x="4279516" y="39257"/>
            <a:ext cx="5258568" cy="1234623"/>
            <a:chOff x="2648188" y="47148"/>
            <a:chExt cx="5103904" cy="1198311"/>
          </a:xfrm>
        </p:grpSpPr>
        <p:pic>
          <p:nvPicPr>
            <p:cNvPr id="8" name="object 4">
              <a:extLst>
                <a:ext uri="{FF2B5EF4-FFF2-40B4-BE49-F238E27FC236}">
                  <a16:creationId xmlns:a16="http://schemas.microsoft.com/office/drawing/2014/main" id="{6520D471-D4E5-A862-75B1-D9BCC13CCE76}"/>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AD22DAB3-C37B-1766-28C4-6EB13F7079CD}"/>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CDC96198-DF83-D7E8-5187-D35038090D7B}"/>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BAA191BE-B616-456E-A32A-06C5D11989B1}"/>
                </a:ext>
              </a:extLst>
            </p:cNvPr>
            <p:cNvSpPr/>
            <p:nvPr/>
          </p:nvSpPr>
          <p:spPr>
            <a:xfrm>
              <a:off x="2828925" y="282892"/>
              <a:ext cx="4534295"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t>                     </a:t>
              </a:r>
              <a:endParaRPr sz="2885" dirty="0">
                <a:solidFill>
                  <a:schemeClr val="bg1"/>
                </a:solidFill>
              </a:endParaRPr>
            </a:p>
          </p:txBody>
        </p:sp>
      </p:grpSp>
      <p:sp>
        <p:nvSpPr>
          <p:cNvPr id="12" name="TextBox 11"/>
          <p:cNvSpPr txBox="1"/>
          <p:nvPr/>
        </p:nvSpPr>
        <p:spPr>
          <a:xfrm>
            <a:off x="4279517" y="288020"/>
            <a:ext cx="5275811" cy="454581"/>
          </a:xfrm>
          <a:prstGeom prst="rect">
            <a:avLst/>
          </a:prstGeom>
          <a:noFill/>
        </p:spPr>
        <p:txBody>
          <a:bodyPr wrap="square">
            <a:spAutoFit/>
          </a:bodyPr>
          <a:lstStyle/>
          <a:p>
            <a:pPr algn="ctr">
              <a:spcAft>
                <a:spcPts val="721"/>
              </a:spcAft>
              <a:defRPr sz="2200" b="1">
                <a:solidFill>
                  <a:srgbClr val="233464"/>
                </a:solidFill>
                <a:latin typeface="Aptos"/>
              </a:defRPr>
            </a:pPr>
            <a:r>
              <a:rPr sz="2267" dirty="0">
                <a:solidFill>
                  <a:schemeClr val="bg1"/>
                </a:solidFill>
                <a:latin typeface="Times New Roman" pitchFamily="18" charset="0"/>
                <a:cs typeface="Times New Roman" pitchFamily="18" charset="0"/>
              </a:rPr>
              <a:t>Project Workflow</a:t>
            </a:r>
          </a:p>
        </p:txBody>
      </p:sp>
      <p:sp>
        <p:nvSpPr>
          <p:cNvPr id="13" name="TextBox 12"/>
          <p:cNvSpPr txBox="1"/>
          <p:nvPr/>
        </p:nvSpPr>
        <p:spPr>
          <a:xfrm>
            <a:off x="3611419" y="905244"/>
            <a:ext cx="6116781" cy="6386364"/>
          </a:xfrm>
          <a:prstGeom prst="rect">
            <a:avLst/>
          </a:prstGeom>
          <a:noFill/>
        </p:spPr>
        <p:txBody>
          <a:bodyPr wrap="square">
            <a:spAutoFit/>
          </a:bodyPr>
          <a:lstStyle/>
          <a:p>
            <a:pPr algn="ctr">
              <a:spcAft>
                <a:spcPts val="721"/>
              </a:spcAft>
              <a:defRPr sz="2000" b="1">
                <a:solidFill>
                  <a:srgbClr val="233464"/>
                </a:solidFill>
                <a:latin typeface="Aptos"/>
              </a:defRPr>
            </a:pPr>
            <a:r>
              <a:rPr lang="en-IN" sz="1600" dirty="0">
                <a:latin typeface="Times New Roman" pitchFamily="18" charset="0"/>
                <a:cs typeface="Times New Roman" pitchFamily="18" charset="0"/>
              </a:rPr>
              <a:t>CSV Dataset</a:t>
            </a:r>
          </a:p>
          <a:p>
            <a:pPr algn="ctr">
              <a:spcAft>
                <a:spcPts val="721"/>
              </a:spcAft>
              <a:defRPr sz="2000" b="1">
                <a:solidFill>
                  <a:srgbClr val="233464"/>
                </a:solidFill>
                <a:latin typeface="Aptos"/>
              </a:defRPr>
            </a:pPr>
            <a:r>
              <a:rPr lang="en-IN" sz="1600" dirty="0">
                <a:latin typeface="Times New Roman" pitchFamily="18" charset="0"/>
                <a:cs typeface="Times New Roman" pitchFamily="18" charset="0"/>
              </a:rPr>
              <a:t>      ↓</a:t>
            </a:r>
          </a:p>
          <a:p>
            <a:pPr algn="ctr">
              <a:spcAft>
                <a:spcPts val="721"/>
              </a:spcAft>
              <a:defRPr sz="2000" b="1">
                <a:solidFill>
                  <a:srgbClr val="233464"/>
                </a:solidFill>
                <a:latin typeface="Aptos"/>
              </a:defRPr>
            </a:pPr>
            <a:r>
              <a:rPr lang="en-IN" sz="1600" dirty="0">
                <a:latin typeface="Times New Roman" pitchFamily="18" charset="0"/>
                <a:cs typeface="Times New Roman" pitchFamily="18" charset="0"/>
              </a:rPr>
              <a:t>Load Dataset</a:t>
            </a:r>
          </a:p>
          <a:p>
            <a:pPr algn="ctr">
              <a:spcAft>
                <a:spcPts val="721"/>
              </a:spcAft>
              <a:defRPr sz="2000" b="1">
                <a:solidFill>
                  <a:srgbClr val="233464"/>
                </a:solidFill>
                <a:latin typeface="Aptos"/>
              </a:defRPr>
            </a:pPr>
            <a:r>
              <a:rPr lang="en-IN" sz="1600" dirty="0">
                <a:latin typeface="Times New Roman" pitchFamily="18" charset="0"/>
                <a:cs typeface="Times New Roman" pitchFamily="18" charset="0"/>
              </a:rPr>
              <a:t>      ↓</a:t>
            </a:r>
          </a:p>
          <a:p>
            <a:pPr algn="ctr">
              <a:spcAft>
                <a:spcPts val="721"/>
              </a:spcAft>
              <a:defRPr sz="2000" b="1">
                <a:solidFill>
                  <a:srgbClr val="233464"/>
                </a:solidFill>
                <a:latin typeface="Aptos"/>
              </a:defRPr>
            </a:pPr>
            <a:r>
              <a:rPr lang="en-IN" sz="1600" dirty="0">
                <a:latin typeface="Times New Roman" pitchFamily="18" charset="0"/>
                <a:cs typeface="Times New Roman" pitchFamily="18" charset="0"/>
              </a:rPr>
              <a:t>Data Exploration</a:t>
            </a:r>
          </a:p>
          <a:p>
            <a:pPr algn="ctr">
              <a:spcAft>
                <a:spcPts val="721"/>
              </a:spcAft>
              <a:defRPr sz="2000" b="1">
                <a:solidFill>
                  <a:srgbClr val="233464"/>
                </a:solidFill>
                <a:latin typeface="Aptos"/>
              </a:defRPr>
            </a:pPr>
            <a:r>
              <a:rPr lang="en-IN" sz="1600" dirty="0">
                <a:latin typeface="Times New Roman" pitchFamily="18" charset="0"/>
                <a:cs typeface="Times New Roman" pitchFamily="18" charset="0"/>
              </a:rPr>
              <a:t>      ↓</a:t>
            </a:r>
          </a:p>
          <a:p>
            <a:pPr algn="ctr">
              <a:spcAft>
                <a:spcPts val="721"/>
              </a:spcAft>
              <a:defRPr sz="2000" b="1">
                <a:solidFill>
                  <a:srgbClr val="233464"/>
                </a:solidFill>
                <a:latin typeface="Aptos"/>
              </a:defRPr>
            </a:pPr>
            <a:r>
              <a:rPr lang="en-IN" sz="1600" dirty="0">
                <a:latin typeface="Times New Roman" pitchFamily="18" charset="0"/>
                <a:cs typeface="Times New Roman" pitchFamily="18" charset="0"/>
              </a:rPr>
              <a:t>Data Cleaning</a:t>
            </a:r>
          </a:p>
          <a:p>
            <a:pPr algn="ctr">
              <a:spcAft>
                <a:spcPts val="721"/>
              </a:spcAft>
              <a:defRPr sz="2000" b="1">
                <a:solidFill>
                  <a:srgbClr val="233464"/>
                </a:solidFill>
                <a:latin typeface="Aptos"/>
              </a:defRPr>
            </a:pPr>
            <a:r>
              <a:rPr lang="en-IN" sz="1600" dirty="0">
                <a:latin typeface="Times New Roman" pitchFamily="18" charset="0"/>
                <a:cs typeface="Times New Roman" pitchFamily="18" charset="0"/>
              </a:rPr>
              <a:t>      ↓</a:t>
            </a:r>
          </a:p>
          <a:p>
            <a:pPr algn="ctr">
              <a:spcAft>
                <a:spcPts val="721"/>
              </a:spcAft>
              <a:defRPr sz="2000" b="1">
                <a:solidFill>
                  <a:srgbClr val="233464"/>
                </a:solidFill>
                <a:latin typeface="Aptos"/>
              </a:defRPr>
            </a:pPr>
            <a:r>
              <a:rPr lang="en-IN" sz="1600" dirty="0">
                <a:latin typeface="Times New Roman" pitchFamily="18" charset="0"/>
                <a:cs typeface="Times New Roman" pitchFamily="18" charset="0"/>
              </a:rPr>
              <a:t>Artist Analysis</a:t>
            </a:r>
          </a:p>
          <a:p>
            <a:pPr algn="ctr">
              <a:spcAft>
                <a:spcPts val="721"/>
              </a:spcAft>
              <a:defRPr sz="2000" b="1">
                <a:solidFill>
                  <a:srgbClr val="233464"/>
                </a:solidFill>
                <a:latin typeface="Aptos"/>
              </a:defRPr>
            </a:pPr>
            <a:r>
              <a:rPr lang="en-IN" sz="1600" dirty="0">
                <a:latin typeface="Times New Roman" pitchFamily="18" charset="0"/>
                <a:cs typeface="Times New Roman" pitchFamily="18" charset="0"/>
              </a:rPr>
              <a:t>      ↓</a:t>
            </a:r>
          </a:p>
          <a:p>
            <a:pPr algn="ctr">
              <a:spcAft>
                <a:spcPts val="721"/>
              </a:spcAft>
              <a:defRPr sz="2000" b="1">
                <a:solidFill>
                  <a:srgbClr val="233464"/>
                </a:solidFill>
                <a:latin typeface="Aptos"/>
              </a:defRPr>
            </a:pPr>
            <a:r>
              <a:rPr lang="en-IN" sz="1600" dirty="0">
                <a:latin typeface="Times New Roman" pitchFamily="18" charset="0"/>
                <a:cs typeface="Times New Roman" pitchFamily="18" charset="0"/>
              </a:rPr>
              <a:t>Genre Analysis</a:t>
            </a:r>
          </a:p>
          <a:p>
            <a:pPr algn="ctr">
              <a:spcAft>
                <a:spcPts val="721"/>
              </a:spcAft>
              <a:defRPr sz="2000" b="1">
                <a:solidFill>
                  <a:srgbClr val="233464"/>
                </a:solidFill>
                <a:latin typeface="Aptos"/>
              </a:defRPr>
            </a:pPr>
            <a:r>
              <a:rPr lang="en-IN" sz="1600" dirty="0">
                <a:latin typeface="Times New Roman" pitchFamily="18" charset="0"/>
                <a:cs typeface="Times New Roman" pitchFamily="18" charset="0"/>
              </a:rPr>
              <a:t>      ↓</a:t>
            </a:r>
          </a:p>
          <a:p>
            <a:pPr algn="ctr">
              <a:spcAft>
                <a:spcPts val="721"/>
              </a:spcAft>
              <a:defRPr sz="2000" b="1">
                <a:solidFill>
                  <a:srgbClr val="233464"/>
                </a:solidFill>
                <a:latin typeface="Aptos"/>
              </a:defRPr>
            </a:pPr>
            <a:r>
              <a:rPr lang="en-IN" sz="1600" dirty="0">
                <a:latin typeface="Times New Roman" pitchFamily="18" charset="0"/>
                <a:cs typeface="Times New Roman" pitchFamily="18" charset="0"/>
              </a:rPr>
              <a:t>Music Consumption Analysis</a:t>
            </a:r>
          </a:p>
          <a:p>
            <a:pPr algn="ctr">
              <a:spcAft>
                <a:spcPts val="721"/>
              </a:spcAft>
              <a:defRPr sz="2000" b="1">
                <a:solidFill>
                  <a:srgbClr val="233464"/>
                </a:solidFill>
                <a:latin typeface="Aptos"/>
              </a:defRPr>
            </a:pPr>
            <a:r>
              <a:rPr lang="en-IN" sz="1600" dirty="0">
                <a:latin typeface="Times New Roman" pitchFamily="18" charset="0"/>
                <a:cs typeface="Times New Roman" pitchFamily="18" charset="0"/>
              </a:rPr>
              <a:t>      ↓</a:t>
            </a:r>
          </a:p>
          <a:p>
            <a:pPr algn="ctr">
              <a:spcAft>
                <a:spcPts val="721"/>
              </a:spcAft>
              <a:defRPr sz="2000" b="1">
                <a:solidFill>
                  <a:srgbClr val="233464"/>
                </a:solidFill>
                <a:latin typeface="Aptos"/>
              </a:defRPr>
            </a:pPr>
            <a:r>
              <a:rPr lang="en-IN" sz="1600" dirty="0">
                <a:latin typeface="Times New Roman" pitchFamily="18" charset="0"/>
                <a:cs typeface="Times New Roman" pitchFamily="18" charset="0"/>
              </a:rPr>
              <a:t>Listening Behaviour Analysis</a:t>
            </a:r>
          </a:p>
          <a:p>
            <a:pPr algn="ctr">
              <a:spcAft>
                <a:spcPts val="721"/>
              </a:spcAft>
              <a:defRPr sz="2000" b="1">
                <a:solidFill>
                  <a:srgbClr val="233464"/>
                </a:solidFill>
                <a:latin typeface="Aptos"/>
              </a:defRPr>
            </a:pPr>
            <a:r>
              <a:rPr lang="en-IN" sz="1600" dirty="0">
                <a:latin typeface="Times New Roman" pitchFamily="18" charset="0"/>
                <a:cs typeface="Times New Roman" pitchFamily="18" charset="0"/>
              </a:rPr>
              <a:t>      ↓</a:t>
            </a:r>
          </a:p>
          <a:p>
            <a:pPr algn="ctr">
              <a:spcAft>
                <a:spcPts val="721"/>
              </a:spcAft>
              <a:defRPr sz="2000" b="1">
                <a:solidFill>
                  <a:srgbClr val="233464"/>
                </a:solidFill>
                <a:latin typeface="Aptos"/>
              </a:defRPr>
            </a:pPr>
            <a:r>
              <a:rPr lang="en-IN" sz="1600" dirty="0">
                <a:latin typeface="Times New Roman" pitchFamily="18" charset="0"/>
                <a:cs typeface="Times New Roman" pitchFamily="18" charset="0"/>
              </a:rPr>
              <a:t>Data Visualization</a:t>
            </a:r>
          </a:p>
          <a:p>
            <a:pPr algn="ctr">
              <a:spcAft>
                <a:spcPts val="721"/>
              </a:spcAft>
              <a:defRPr sz="2000" b="1">
                <a:solidFill>
                  <a:srgbClr val="233464"/>
                </a:solidFill>
                <a:latin typeface="Aptos"/>
              </a:defRPr>
            </a:pPr>
            <a:r>
              <a:rPr lang="en-IN" sz="1600" dirty="0">
                <a:latin typeface="Times New Roman" pitchFamily="18" charset="0"/>
                <a:cs typeface="Times New Roman" pitchFamily="18" charset="0"/>
              </a:rPr>
              <a:t>      ↓</a:t>
            </a:r>
          </a:p>
          <a:p>
            <a:pPr algn="ctr">
              <a:spcAft>
                <a:spcPts val="721"/>
              </a:spcAft>
              <a:defRPr sz="2000" b="1">
                <a:solidFill>
                  <a:srgbClr val="233464"/>
                </a:solidFill>
                <a:latin typeface="Aptos"/>
              </a:defRPr>
            </a:pPr>
            <a:r>
              <a:rPr lang="en-IN" sz="1600" dirty="0">
                <a:latin typeface="Times New Roman" pitchFamily="18" charset="0"/>
                <a:cs typeface="Times New Roman" pitchFamily="18" charset="0"/>
              </a:rPr>
              <a:t>Music Streaming Insights</a:t>
            </a:r>
            <a:endParaRPr sz="1600" dirty="0">
              <a:latin typeface="Times New Roman" pitchFamily="18" charset="0"/>
              <a:cs typeface="Times New Roman" pitchFamily="18" charset="0"/>
            </a:endParaRPr>
          </a:p>
        </p:txBody>
      </p:sp>
      <p:pic>
        <p:nvPicPr>
          <p:cNvPr id="3" name="Picture 2">
            <a:extLst>
              <a:ext uri="{FF2B5EF4-FFF2-40B4-BE49-F238E27FC236}">
                <a16:creationId xmlns:a16="http://schemas.microsoft.com/office/drawing/2014/main" id="{52A8613C-491D-8791-D988-E7A2F99367A6}"/>
              </a:ext>
            </a:extLst>
          </p:cNvPr>
          <p:cNvPicPr>
            <a:picLocks noChangeAspect="1"/>
          </p:cNvPicPr>
          <p:nvPr/>
        </p:nvPicPr>
        <p:blipFill>
          <a:blip r:embed="rId5"/>
          <a:stretch>
            <a:fillRect/>
          </a:stretch>
        </p:blipFill>
        <p:spPr>
          <a:xfrm>
            <a:off x="508000" y="348767"/>
            <a:ext cx="1467055" cy="562053"/>
          </a:xfrm>
          <a:prstGeom prst="rect">
            <a:avLst/>
          </a:prstGeom>
        </p:spPr>
      </p:pic>
    </p:spTree>
    <p:extLst>
      <p:ext uri="{BB962C8B-B14F-4D97-AF65-F5344CB8AC3E}">
        <p14:creationId xmlns:p14="http://schemas.microsoft.com/office/powerpoint/2010/main" val="49352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3">
            <a:extLst>
              <a:ext uri="{FF2B5EF4-FFF2-40B4-BE49-F238E27FC236}">
                <a16:creationId xmlns:a16="http://schemas.microsoft.com/office/drawing/2014/main" id="{20B8B724-A73F-F006-222B-6A4FF27EB83E}"/>
              </a:ext>
            </a:extLst>
          </p:cNvPr>
          <p:cNvGrpSpPr/>
          <p:nvPr/>
        </p:nvGrpSpPr>
        <p:grpSpPr>
          <a:xfrm>
            <a:off x="4279516" y="39257"/>
            <a:ext cx="5258568" cy="1234623"/>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026761" y="92739"/>
            <a:ext cx="1198244" cy="437197"/>
          </a:xfrm>
          <a:prstGeom prst="rect">
            <a:avLst/>
          </a:prstGeom>
        </p:spPr>
      </p:pic>
      <p:sp>
        <p:nvSpPr>
          <p:cNvPr id="14" name="TextBox 13"/>
          <p:cNvSpPr txBox="1"/>
          <p:nvPr/>
        </p:nvSpPr>
        <p:spPr>
          <a:xfrm>
            <a:off x="4291491" y="261850"/>
            <a:ext cx="5275811" cy="454581"/>
          </a:xfrm>
          <a:prstGeom prst="rect">
            <a:avLst/>
          </a:prstGeom>
          <a:noFill/>
        </p:spPr>
        <p:txBody>
          <a:bodyPr wrap="square">
            <a:spAutoFit/>
          </a:bodyPr>
          <a:lstStyle/>
          <a:p>
            <a:pPr algn="ctr">
              <a:spcAft>
                <a:spcPts val="721"/>
              </a:spcAft>
              <a:defRPr sz="2200" b="1">
                <a:solidFill>
                  <a:srgbClr val="233464"/>
                </a:solidFill>
                <a:latin typeface="Aptos"/>
              </a:defRPr>
            </a:pPr>
            <a:r>
              <a:rPr sz="2267" dirty="0">
                <a:solidFill>
                  <a:schemeClr val="bg1"/>
                </a:solidFill>
                <a:latin typeface="Times New Roman" pitchFamily="18" charset="0"/>
                <a:cs typeface="Times New Roman" pitchFamily="18" charset="0"/>
              </a:rPr>
              <a:t>CONCLUSION</a:t>
            </a:r>
          </a:p>
        </p:txBody>
      </p:sp>
      <p:sp>
        <p:nvSpPr>
          <p:cNvPr id="2" name="TextBox 1">
            <a:extLst>
              <a:ext uri="{FF2B5EF4-FFF2-40B4-BE49-F238E27FC236}">
                <a16:creationId xmlns:a16="http://schemas.microsoft.com/office/drawing/2014/main" id="{BA16274A-6736-4542-8FC0-067E5F50A077}"/>
              </a:ext>
            </a:extLst>
          </p:cNvPr>
          <p:cNvSpPr txBox="1"/>
          <p:nvPr/>
        </p:nvSpPr>
        <p:spPr>
          <a:xfrm>
            <a:off x="736600" y="1455991"/>
            <a:ext cx="11673132" cy="4524315"/>
          </a:xfrm>
          <a:prstGeom prst="rect">
            <a:avLst/>
          </a:prstGeom>
          <a:noFill/>
        </p:spPr>
        <p:txBody>
          <a:bodyPr wrap="square" rtlCol="0">
            <a:spAutoFit/>
          </a:bodyPr>
          <a:lstStyle/>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system demonstrates a complete music streaming data analysis pipeline using Python.</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 cleaning and preprocessing improve the quality of analysis.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Artist and genre analysis helps understand listener preferences.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Listening-time and songs-per-day analysis helps identify listening behaviour.</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Bar charts, pie charts, and line charts make the results easier to understand.</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project provides practical experience in data analysis and visualization.</a:t>
            </a:r>
          </a:p>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Future Scope</a:t>
            </a:r>
          </a:p>
          <a:p>
            <a:r>
              <a:rPr lang="en-IN" sz="2400" dirty="0">
                <a:latin typeface="Times New Roman" panose="02020603050405020304" pitchFamily="18" charset="0"/>
                <a:cs typeface="Times New Roman" panose="02020603050405020304" pitchFamily="18" charset="0"/>
              </a:rPr>
              <a:t>• Larger music streaming datasets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Interactive dashboards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Recommendation systems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Advanced predictive analysis</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41927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27200" y="-117764"/>
            <a:ext cx="10363200" cy="800792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Freeform: Shape 23">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74462" y="-117764"/>
            <a:ext cx="8468678" cy="8007927"/>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42092" rtl="0">
              <a:defRPr/>
            </a:pPr>
            <a:endParaRPr lang="en-US" kern="1200">
              <a:solidFill>
                <a:prstClr val="white"/>
              </a:solidFill>
              <a:latin typeface="Calibri" panose="020F0502020204030204"/>
            </a:endParaRPr>
          </a:p>
        </p:txBody>
      </p:sp>
      <p:sp useBgFill="1">
        <p:nvSpPr>
          <p:cNvPr id="25" name="Freeform: Shape 24">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80615" y="-117764"/>
            <a:ext cx="8456372" cy="8007927"/>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42092" rtl="0">
              <a:defRPr/>
            </a:pPr>
            <a:endParaRPr lang="en-US" kern="1200">
              <a:solidFill>
                <a:prstClr val="white"/>
              </a:solidFill>
              <a:latin typeface="Calibri" panose="020F0502020204030204"/>
            </a:endParaRPr>
          </a:p>
        </p:txBody>
      </p:sp>
      <p:sp>
        <p:nvSpPr>
          <p:cNvPr id="3" name="TextBox 2"/>
          <p:cNvSpPr txBox="1"/>
          <p:nvPr/>
        </p:nvSpPr>
        <p:spPr>
          <a:xfrm>
            <a:off x="3022602" y="2217144"/>
            <a:ext cx="7772400" cy="3227491"/>
          </a:xfrm>
          <a:prstGeom prst="rect">
            <a:avLst/>
          </a:prstGeom>
        </p:spPr>
        <p:txBody>
          <a:bodyPr vert="horz" lIns="94211" tIns="47105" rIns="94211" bIns="47105" rtlCol="0" anchor="ctr">
            <a:normAutofit/>
          </a:bodyPr>
          <a:lstStyle/>
          <a:p>
            <a:pPr algn="ctr" rtl="0">
              <a:lnSpc>
                <a:spcPct val="90000"/>
              </a:lnSpc>
              <a:spcBef>
                <a:spcPct val="0"/>
              </a:spcBef>
              <a:spcAft>
                <a:spcPts val="721"/>
              </a:spcAft>
              <a:defRPr sz="3400" b="1">
                <a:solidFill>
                  <a:srgbClr val="233464"/>
                </a:solidFill>
                <a:latin typeface="Aptos"/>
              </a:defRPr>
            </a:pPr>
            <a:r>
              <a:rPr lang="en-US" sz="3709" kern="1200" dirty="0">
                <a:solidFill>
                  <a:schemeClr val="tx1"/>
                </a:solidFill>
                <a:latin typeface="Times New Roman" pitchFamily="18" charset="0"/>
                <a:ea typeface="+mj-ea"/>
                <a:cs typeface="Times New Roman" pitchFamily="18" charset="0"/>
              </a:rPr>
              <a:t>THANK YOU</a:t>
            </a:r>
          </a:p>
        </p:txBody>
      </p:sp>
      <p:sp>
        <p:nvSpPr>
          <p:cNvPr id="26" name="Rectangle 25">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87976" y="6333403"/>
            <a:ext cx="4041648" cy="320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42092" rtl="0">
              <a:defRPr/>
            </a:pPr>
            <a:endParaRPr lang="en-US" kern="1200">
              <a:solidFill>
                <a:prstClr val="white"/>
              </a:solidFill>
              <a:latin typeface="Calibri" panose="020F0502020204030204"/>
            </a:endParaRPr>
          </a:p>
        </p:txBody>
      </p:sp>
      <p:pic>
        <p:nvPicPr>
          <p:cNvPr id="8" name="object 3">
            <a:extLst>
              <a:ext uri="{FF2B5EF4-FFF2-40B4-BE49-F238E27FC236}">
                <a16:creationId xmlns:a16="http://schemas.microsoft.com/office/drawing/2014/main" id="{A36E30A8-BD1B-0058-4620-F390351DADBD}"/>
              </a:ext>
            </a:extLst>
          </p:cNvPr>
          <p:cNvPicPr/>
          <p:nvPr/>
        </p:nvPicPr>
        <p:blipFill>
          <a:blip r:embed="rId2" cstate="print"/>
          <a:stretch>
            <a:fillRect/>
          </a:stretch>
        </p:blipFill>
        <p:spPr>
          <a:xfrm>
            <a:off x="2026761" y="92739"/>
            <a:ext cx="1198244" cy="437197"/>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3329</TotalTime>
  <Words>1027</Words>
  <Application>Microsoft Office PowerPoint</Application>
  <PresentationFormat>Custom</PresentationFormat>
  <Paragraphs>172</Paragraphs>
  <Slides>22</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Palatino Linotype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TORANA SRIJA DANGETI</cp:lastModifiedBy>
  <cp:revision>114</cp:revision>
  <cp:lastPrinted>2025-10-14T18:21:49Z</cp:lastPrinted>
  <dcterms:created xsi:type="dcterms:W3CDTF">2025-10-10T08:28:06Z</dcterms:created>
  <dcterms:modified xsi:type="dcterms:W3CDTF">2026-09-29T16:12:59Z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